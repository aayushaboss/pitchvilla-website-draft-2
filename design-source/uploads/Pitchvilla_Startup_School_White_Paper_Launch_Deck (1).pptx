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4114800" cy="320040"/>
          </a:xfrm>
          <a:prstGeom prst="rect">
            <a:avLst/>
          </a:prstGeom>
          <a:noFill/>
        </p:spPr>
        <p:txBody>
          <a:bodyPr wrap="square" anchor="t">
            <a:spAutoFit/>
          </a:bodyPr>
          <a:lstStyle/>
          <a:p>
            <a:pPr algn="l"/>
            <a:r>
              <a:rPr sz="1800" b="1" i="0">
                <a:solidFill>
                  <a:srgbClr val="14181F"/>
                </a:solidFill>
                <a:latin typeface="Aptos Display"/>
              </a:rPr>
              <a:t>PITCHVILLA</a:t>
            </a:r>
          </a:p>
        </p:txBody>
      </p:sp>
      <p:sp>
        <p:nvSpPr>
          <p:cNvPr id="5" name="TextBox 4"/>
          <p:cNvSpPr txBox="1"/>
          <p:nvPr/>
        </p:nvSpPr>
        <p:spPr>
          <a:xfrm>
            <a:off x="731520" y="987552"/>
            <a:ext cx="4114800" cy="228600"/>
          </a:xfrm>
          <a:prstGeom prst="rect">
            <a:avLst/>
          </a:prstGeom>
          <a:noFill/>
        </p:spPr>
        <p:txBody>
          <a:bodyPr wrap="square" anchor="t">
            <a:spAutoFit/>
          </a:bodyPr>
          <a:lstStyle/>
          <a:p>
            <a:pPr algn="l"/>
            <a:r>
              <a:rPr sz="1000" b="1" i="0">
                <a:solidFill>
                  <a:srgbClr val="004EF6"/>
                </a:solidFill>
                <a:latin typeface="Aptos"/>
              </a:rPr>
              <a:t>STARTUP SCHOOL</a:t>
            </a:r>
          </a:p>
        </p:txBody>
      </p:sp>
      <p:sp>
        <p:nvSpPr>
          <p:cNvPr id="6" name="TextBox 5"/>
          <p:cNvSpPr txBox="1"/>
          <p:nvPr/>
        </p:nvSpPr>
        <p:spPr>
          <a:xfrm>
            <a:off x="731520" y="1691640"/>
            <a:ext cx="6675120" cy="1143000"/>
          </a:xfrm>
          <a:prstGeom prst="rect">
            <a:avLst/>
          </a:prstGeom>
          <a:noFill/>
        </p:spPr>
        <p:txBody>
          <a:bodyPr wrap="square" anchor="t">
            <a:spAutoFit/>
          </a:bodyPr>
          <a:lstStyle/>
          <a:p>
            <a:pPr algn="l"/>
            <a:r>
              <a:rPr sz="4200" b="1" i="0">
                <a:solidFill>
                  <a:srgbClr val="14181F"/>
                </a:solidFill>
                <a:latin typeface="Aptos Display"/>
              </a:rPr>
              <a:t>A new home for
serious founders.</a:t>
            </a:r>
          </a:p>
        </p:txBody>
      </p:sp>
      <p:sp>
        <p:nvSpPr>
          <p:cNvPr id="7" name="TextBox 6"/>
          <p:cNvSpPr txBox="1"/>
          <p:nvPr/>
        </p:nvSpPr>
        <p:spPr>
          <a:xfrm>
            <a:off x="777240" y="3246120"/>
            <a:ext cx="5577840" cy="914400"/>
          </a:xfrm>
          <a:prstGeom prst="rect">
            <a:avLst/>
          </a:prstGeom>
          <a:noFill/>
        </p:spPr>
        <p:txBody>
          <a:bodyPr wrap="square" anchor="t">
            <a:spAutoFit/>
          </a:bodyPr>
          <a:lstStyle/>
          <a:p>
            <a:pPr algn="l"/>
            <a:r>
              <a:rPr sz="1700" b="0" i="0">
                <a:solidFill>
                  <a:srgbClr val="30363F"/>
                </a:solidFill>
                <a:latin typeface="Aptos"/>
              </a:rPr>
              <a:t>Pitchvilla Startup School is a six-month founder enablement platform designed to help entrepreneurs launch, restructure, and grow real businesses—with direction, resources, mentorship, and structured execution.</a:t>
            </a:r>
          </a:p>
        </p:txBody>
      </p:sp>
      <p:sp>
        <p:nvSpPr>
          <p:cNvPr id="8" name="Rounded Rectangle 7"/>
          <p:cNvSpPr/>
          <p:nvPr/>
        </p:nvSpPr>
        <p:spPr>
          <a:xfrm>
            <a:off x="777240" y="4800600"/>
            <a:ext cx="2651760" cy="475488"/>
          </a:xfrm>
          <a:prstGeom prst="roundRect">
            <a:avLst/>
          </a:prstGeom>
          <a:solidFill>
            <a:srgbClr val="14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937760"/>
            <a:ext cx="2651760" cy="164592"/>
          </a:xfrm>
          <a:prstGeom prst="rect">
            <a:avLst/>
          </a:prstGeom>
          <a:noFill/>
        </p:spPr>
        <p:txBody>
          <a:bodyPr wrap="square" anchor="t">
            <a:spAutoFit/>
          </a:bodyPr>
          <a:lstStyle/>
          <a:p>
            <a:pPr algn="ctr"/>
            <a:r>
              <a:rPr sz="1000" b="1" i="0">
                <a:solidFill>
                  <a:srgbClr val="FFFFFF"/>
                </a:solidFill>
                <a:latin typeface="Aptos"/>
              </a:rPr>
              <a:t>AARAMBH / COHORT 01</a:t>
            </a:r>
          </a:p>
        </p:txBody>
      </p:sp>
      <p:sp>
        <p:nvSpPr>
          <p:cNvPr id="10" name="TextBox 9"/>
          <p:cNvSpPr txBox="1"/>
          <p:nvPr/>
        </p:nvSpPr>
        <p:spPr>
          <a:xfrm>
            <a:off x="777240" y="5532120"/>
            <a:ext cx="4937760" cy="228600"/>
          </a:xfrm>
          <a:prstGeom prst="rect">
            <a:avLst/>
          </a:prstGeom>
          <a:noFill/>
        </p:spPr>
        <p:txBody>
          <a:bodyPr wrap="square" anchor="t">
            <a:spAutoFit/>
          </a:bodyPr>
          <a:lstStyle/>
          <a:p>
            <a:pPr algn="l"/>
            <a:r>
              <a:rPr sz="1200" b="0" i="0">
                <a:solidFill>
                  <a:srgbClr val="6C7480"/>
                </a:solidFill>
                <a:latin typeface="Aptos"/>
              </a:rPr>
              <a:t>Ahmedabad  •  November 2026 – April 2027</a:t>
            </a:r>
          </a:p>
        </p:txBody>
      </p:sp>
      <p:sp>
        <p:nvSpPr>
          <p:cNvPr id="11" name="Rounded Rectangle 10"/>
          <p:cNvSpPr/>
          <p:nvPr/>
        </p:nvSpPr>
        <p:spPr>
          <a:xfrm>
            <a:off x="7635240" y="1051560"/>
            <a:ext cx="3337560" cy="4434840"/>
          </a:xfrm>
          <a:prstGeom prst="roundRect">
            <a:avLst/>
          </a:prstGeom>
          <a:solidFill>
            <a:srgbClr val="EB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600200"/>
            <a:ext cx="2377440" cy="411480"/>
          </a:xfrm>
          <a:prstGeom prst="rect">
            <a:avLst/>
          </a:prstGeom>
          <a:noFill/>
        </p:spPr>
        <p:txBody>
          <a:bodyPr wrap="square" anchor="t">
            <a:spAutoFit/>
          </a:bodyPr>
          <a:lstStyle/>
          <a:p>
            <a:pPr algn="l"/>
            <a:r>
              <a:rPr sz="2900" b="1" i="0">
                <a:solidFill>
                  <a:srgbClr val="004EF6"/>
                </a:solidFill>
                <a:latin typeface="Aptos Display"/>
              </a:rPr>
              <a:t>BUILD</a:t>
            </a:r>
          </a:p>
        </p:txBody>
      </p:sp>
      <p:sp>
        <p:nvSpPr>
          <p:cNvPr id="13" name="TextBox 12"/>
          <p:cNvSpPr txBox="1"/>
          <p:nvPr/>
        </p:nvSpPr>
        <p:spPr>
          <a:xfrm>
            <a:off x="8092440" y="2240280"/>
            <a:ext cx="2377440" cy="411480"/>
          </a:xfrm>
          <a:prstGeom prst="rect">
            <a:avLst/>
          </a:prstGeom>
          <a:noFill/>
        </p:spPr>
        <p:txBody>
          <a:bodyPr wrap="square" anchor="t">
            <a:spAutoFit/>
          </a:bodyPr>
          <a:lstStyle/>
          <a:p>
            <a:pPr algn="l"/>
            <a:r>
              <a:rPr sz="2900" b="1" i="0">
                <a:solidFill>
                  <a:srgbClr val="14181F"/>
                </a:solidFill>
                <a:latin typeface="Aptos Display"/>
              </a:rPr>
              <a:t>BETTER</a:t>
            </a:r>
          </a:p>
        </p:txBody>
      </p:sp>
      <p:sp>
        <p:nvSpPr>
          <p:cNvPr id="14" name="TextBox 13"/>
          <p:cNvSpPr txBox="1"/>
          <p:nvPr/>
        </p:nvSpPr>
        <p:spPr>
          <a:xfrm>
            <a:off x="8092440" y="2880360"/>
            <a:ext cx="2743200" cy="411480"/>
          </a:xfrm>
          <a:prstGeom prst="rect">
            <a:avLst/>
          </a:prstGeom>
          <a:noFill/>
        </p:spPr>
        <p:txBody>
          <a:bodyPr wrap="square" anchor="t">
            <a:spAutoFit/>
          </a:bodyPr>
          <a:lstStyle/>
          <a:p>
            <a:pPr algn="l"/>
            <a:r>
              <a:rPr sz="2900" b="1" i="0">
                <a:solidFill>
                  <a:srgbClr val="004EF6"/>
                </a:solidFill>
                <a:latin typeface="Aptos Display"/>
              </a:rPr>
              <a:t>BUSINESSES</a:t>
            </a:r>
          </a:p>
        </p:txBody>
      </p:sp>
      <p:cxnSp>
        <p:nvCxnSpPr>
          <p:cNvPr id="15" name="Connector 14"/>
          <p:cNvCxnSpPr/>
          <p:nvPr/>
        </p:nvCxnSpPr>
        <p:spPr>
          <a:xfrm>
            <a:off x="8138160" y="3886200"/>
            <a:ext cx="2240280" cy="0"/>
          </a:xfrm>
          <a:prstGeom prst="line">
            <a:avLst/>
          </a:prstGeom>
          <a:ln w="38100">
            <a:solidFill>
              <a:srgbClr val="004EF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38160" y="4251960"/>
            <a:ext cx="2286000" cy="822960"/>
          </a:xfrm>
          <a:prstGeom prst="rect">
            <a:avLst/>
          </a:prstGeom>
          <a:noFill/>
        </p:spPr>
        <p:txBody>
          <a:bodyPr wrap="square" anchor="t">
            <a:spAutoFit/>
          </a:bodyPr>
          <a:lstStyle/>
          <a:p>
            <a:pPr algn="l"/>
            <a:r>
              <a:rPr sz="1400" b="1" i="0">
                <a:solidFill>
                  <a:srgbClr val="14181F"/>
                </a:solidFill>
                <a:latin typeface="Aptos"/>
              </a:rPr>
              <a:t>DIRECTION
RESOURCES
EXECUTION</a:t>
            </a:r>
          </a:p>
        </p:txBody>
      </p:sp>
      <p:sp>
        <p:nvSpPr>
          <p:cNvPr id="17" name="TextBox 16"/>
          <p:cNvSpPr txBox="1"/>
          <p:nvPr/>
        </p:nvSpPr>
        <p:spPr>
          <a:xfrm>
            <a:off x="8092440" y="5623560"/>
            <a:ext cx="2743200" cy="548640"/>
          </a:xfrm>
          <a:prstGeom prst="rect">
            <a:avLst/>
          </a:prstGeom>
          <a:noFill/>
        </p:spPr>
        <p:txBody>
          <a:bodyPr wrap="square" anchor="t">
            <a:spAutoFit/>
          </a:bodyPr>
          <a:lstStyle/>
          <a:p>
            <a:pPr algn="l"/>
            <a:r>
              <a:rPr sz="1700" b="1" i="0">
                <a:solidFill>
                  <a:srgbClr val="14181F"/>
                </a:solidFill>
                <a:latin typeface="Aptos Display"/>
              </a:rPr>
              <a:t>Ideas Don't Scale.
Founders 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MANIFESTO</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The startup ecosystem does not need more noise.</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It needs more businesses that survive, serve customers, create jobs, and grow with discipline.</a:t>
            </a:r>
          </a:p>
        </p:txBody>
      </p:sp>
      <p:sp>
        <p:nvSpPr>
          <p:cNvPr id="6" name="Rectangle 5"/>
          <p:cNvSpPr/>
          <p:nvPr/>
        </p:nvSpPr>
        <p:spPr>
          <a:xfrm>
            <a:off x="704088" y="2103120"/>
            <a:ext cx="54864" cy="1143000"/>
          </a:xfrm>
          <a:prstGeom prst="rect">
            <a:avLst/>
          </a:prstGeom>
          <a:solidFill>
            <a:srgbClr val="F6B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6400800" cy="1143000"/>
          </a:xfrm>
          <a:prstGeom prst="rect">
            <a:avLst/>
          </a:prstGeom>
          <a:noFill/>
        </p:spPr>
        <p:txBody>
          <a:bodyPr wrap="square" anchor="t">
            <a:spAutoFit/>
          </a:bodyPr>
          <a:lstStyle/>
          <a:p>
            <a:pPr algn="l"/>
            <a:r>
              <a:rPr sz="2900" b="1" i="0">
                <a:solidFill>
                  <a:srgbClr val="14181F"/>
                </a:solidFill>
                <a:latin typeface="Aptos Display"/>
              </a:rPr>
              <a:t>Too many founders are left alone
between inspiration and execution.</a:t>
            </a:r>
          </a:p>
        </p:txBody>
      </p:sp>
      <p:sp>
        <p:nvSpPr>
          <p:cNvPr id="8" name="TextBox 7"/>
          <p:cNvSpPr txBox="1"/>
          <p:nvPr/>
        </p:nvSpPr>
        <p:spPr>
          <a:xfrm>
            <a:off x="896112" y="3794760"/>
            <a:ext cx="5715000" cy="1325880"/>
          </a:xfrm>
          <a:prstGeom prst="rect">
            <a:avLst/>
          </a:prstGeom>
          <a:noFill/>
        </p:spPr>
        <p:txBody>
          <a:bodyPr wrap="square" anchor="t">
            <a:spAutoFit/>
          </a:bodyPr>
          <a:lstStyle/>
          <a:p>
            <a:pPr algn="l"/>
            <a:r>
              <a:rPr sz="1500" b="0" i="0">
                <a:solidFill>
                  <a:srgbClr val="30363F"/>
                </a:solidFill>
                <a:latin typeface="Aptos"/>
              </a:rPr>
              <a:t>They attend events. They collect advice. They download templates. They hear stories of success.
But when it is time to build systems, acquire customers, hire people, manage cash flow, or redesign a broken business model—the founder is often left to figure it out alone.</a:t>
            </a:r>
          </a:p>
        </p:txBody>
      </p:sp>
      <p:sp>
        <p:nvSpPr>
          <p:cNvPr id="9" name="Rounded Rectangle 8"/>
          <p:cNvSpPr/>
          <p:nvPr/>
        </p:nvSpPr>
        <p:spPr>
          <a:xfrm>
            <a:off x="7543800" y="2103120"/>
            <a:ext cx="3337560" cy="3246120"/>
          </a:xfrm>
          <a:prstGeom prst="roundRect">
            <a:avLst/>
          </a:prstGeom>
          <a:solidFill>
            <a:srgbClr val="14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2514600"/>
            <a:ext cx="2560320" cy="502920"/>
          </a:xfrm>
          <a:prstGeom prst="rect">
            <a:avLst/>
          </a:prstGeom>
          <a:noFill/>
        </p:spPr>
        <p:txBody>
          <a:bodyPr wrap="square" anchor="t">
            <a:spAutoFit/>
          </a:bodyPr>
          <a:lstStyle/>
          <a:p>
            <a:pPr algn="ctr"/>
            <a:r>
              <a:rPr sz="1900" b="1" i="0">
                <a:solidFill>
                  <a:srgbClr val="FFFFFF"/>
                </a:solidFill>
                <a:latin typeface="Aptos Display"/>
              </a:rPr>
              <a:t>PITCHVILLA
STARTUP SCHOOL</a:t>
            </a:r>
          </a:p>
        </p:txBody>
      </p:sp>
      <p:sp>
        <p:nvSpPr>
          <p:cNvPr id="11" name="TextBox 10"/>
          <p:cNvSpPr txBox="1"/>
          <p:nvPr/>
        </p:nvSpPr>
        <p:spPr>
          <a:xfrm>
            <a:off x="7909560" y="3429000"/>
            <a:ext cx="2560320" cy="914400"/>
          </a:xfrm>
          <a:prstGeom prst="rect">
            <a:avLst/>
          </a:prstGeom>
          <a:noFill/>
        </p:spPr>
        <p:txBody>
          <a:bodyPr wrap="square" anchor="t">
            <a:spAutoFit/>
          </a:bodyPr>
          <a:lstStyle/>
          <a:p>
            <a:pPr algn="ctr"/>
            <a:r>
              <a:rPr sz="1800" b="1" i="0">
                <a:solidFill>
                  <a:srgbClr val="F6BF35"/>
                </a:solidFill>
                <a:latin typeface="Aptos"/>
              </a:rPr>
              <a:t>A practical environment
for founders who are
ready to do the work.</a:t>
            </a:r>
          </a:p>
        </p:txBody>
      </p:sp>
      <p:cxnSp>
        <p:nvCxnSpPr>
          <p:cNvPr id="12" name="Connector 11"/>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14" name="TextBox 13"/>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THE CONTEXT</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Starting a business is easier than building one that works.</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The next generation of founders needs access to execution infrastructure—not only information.</a:t>
            </a:r>
          </a:p>
        </p:txBody>
      </p:sp>
      <p:sp>
        <p:nvSpPr>
          <p:cNvPr id="6" name="Rounded Rectangle 5"/>
          <p:cNvSpPr/>
          <p:nvPr/>
        </p:nvSpPr>
        <p:spPr>
          <a:xfrm>
            <a:off x="731520" y="2103120"/>
            <a:ext cx="3337560" cy="306324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395728"/>
            <a:ext cx="457200" cy="274320"/>
          </a:xfrm>
          <a:prstGeom prst="rect">
            <a:avLst/>
          </a:prstGeom>
          <a:noFill/>
        </p:spPr>
        <p:txBody>
          <a:bodyPr wrap="square" anchor="t">
            <a:spAutoFit/>
          </a:bodyPr>
          <a:lstStyle/>
          <a:p>
            <a:pPr algn="l"/>
            <a:r>
              <a:rPr sz="1800" b="1" i="0">
                <a:solidFill>
                  <a:srgbClr val="004EF6"/>
                </a:solidFill>
                <a:latin typeface="Aptos"/>
              </a:rPr>
              <a:t>01</a:t>
            </a:r>
          </a:p>
        </p:txBody>
      </p:sp>
      <p:sp>
        <p:nvSpPr>
          <p:cNvPr id="8" name="TextBox 7"/>
          <p:cNvSpPr txBox="1"/>
          <p:nvPr/>
        </p:nvSpPr>
        <p:spPr>
          <a:xfrm>
            <a:off x="987552" y="2926080"/>
            <a:ext cx="2651760" cy="320040"/>
          </a:xfrm>
          <a:prstGeom prst="rect">
            <a:avLst/>
          </a:prstGeom>
          <a:noFill/>
        </p:spPr>
        <p:txBody>
          <a:bodyPr wrap="square" anchor="t">
            <a:spAutoFit/>
          </a:bodyPr>
          <a:lstStyle/>
          <a:p>
            <a:pPr algn="l"/>
            <a:r>
              <a:rPr sz="1900" b="1" i="0">
                <a:solidFill>
                  <a:srgbClr val="14181F"/>
                </a:solidFill>
                <a:latin typeface="Aptos Display"/>
              </a:rPr>
              <a:t>Access to tools</a:t>
            </a:r>
          </a:p>
        </p:txBody>
      </p:sp>
      <p:sp>
        <p:nvSpPr>
          <p:cNvPr id="9" name="TextBox 8"/>
          <p:cNvSpPr txBox="1"/>
          <p:nvPr/>
        </p:nvSpPr>
        <p:spPr>
          <a:xfrm>
            <a:off x="987552" y="3657600"/>
            <a:ext cx="2697480" cy="960120"/>
          </a:xfrm>
          <a:prstGeom prst="rect">
            <a:avLst/>
          </a:prstGeom>
          <a:noFill/>
        </p:spPr>
        <p:txBody>
          <a:bodyPr wrap="square" anchor="t">
            <a:spAutoFit/>
          </a:bodyPr>
          <a:lstStyle/>
          <a:p>
            <a:pPr algn="l"/>
            <a:r>
              <a:rPr sz="1400" b="0" i="0">
                <a:solidFill>
                  <a:srgbClr val="30363F"/>
                </a:solidFill>
                <a:latin typeface="Aptos"/>
              </a:rPr>
              <a:t>Technology, automation, CRM, content, and digital distribution are now essential to almost every business.</a:t>
            </a:r>
          </a:p>
        </p:txBody>
      </p:sp>
      <p:sp>
        <p:nvSpPr>
          <p:cNvPr id="10" name="Rounded Rectangle 9"/>
          <p:cNvSpPr/>
          <p:nvPr/>
        </p:nvSpPr>
        <p:spPr>
          <a:xfrm>
            <a:off x="4526280" y="2103120"/>
            <a:ext cx="3337560" cy="3063240"/>
          </a:xfrm>
          <a:prstGeom prst="roundRect">
            <a:avLst/>
          </a:prstGeom>
          <a:solidFill>
            <a:srgbClr val="FAFAF7"/>
          </a:solidFill>
          <a:ln>
            <a:solidFill>
              <a:srgbClr val="F6B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2312" y="2395728"/>
            <a:ext cx="457200" cy="274320"/>
          </a:xfrm>
          <a:prstGeom prst="rect">
            <a:avLst/>
          </a:prstGeom>
          <a:noFill/>
        </p:spPr>
        <p:txBody>
          <a:bodyPr wrap="square" anchor="t">
            <a:spAutoFit/>
          </a:bodyPr>
          <a:lstStyle/>
          <a:p>
            <a:pPr algn="l"/>
            <a:r>
              <a:rPr sz="1800" b="1" i="0">
                <a:solidFill>
                  <a:srgbClr val="F6BF35"/>
                </a:solidFill>
                <a:latin typeface="Aptos"/>
              </a:rPr>
              <a:t>02</a:t>
            </a:r>
          </a:p>
        </p:txBody>
      </p:sp>
      <p:sp>
        <p:nvSpPr>
          <p:cNvPr id="12" name="TextBox 11"/>
          <p:cNvSpPr txBox="1"/>
          <p:nvPr/>
        </p:nvSpPr>
        <p:spPr>
          <a:xfrm>
            <a:off x="4782312" y="2926080"/>
            <a:ext cx="2651760" cy="320040"/>
          </a:xfrm>
          <a:prstGeom prst="rect">
            <a:avLst/>
          </a:prstGeom>
          <a:noFill/>
        </p:spPr>
        <p:txBody>
          <a:bodyPr wrap="square" anchor="t">
            <a:spAutoFit/>
          </a:bodyPr>
          <a:lstStyle/>
          <a:p>
            <a:pPr algn="l"/>
            <a:r>
              <a:rPr sz="1900" b="1" i="0">
                <a:solidFill>
                  <a:srgbClr val="14181F"/>
                </a:solidFill>
                <a:latin typeface="Aptos Display"/>
              </a:rPr>
              <a:t>Founder overload</a:t>
            </a:r>
          </a:p>
        </p:txBody>
      </p:sp>
      <p:sp>
        <p:nvSpPr>
          <p:cNvPr id="13" name="TextBox 12"/>
          <p:cNvSpPr txBox="1"/>
          <p:nvPr/>
        </p:nvSpPr>
        <p:spPr>
          <a:xfrm>
            <a:off x="4782312" y="3657600"/>
            <a:ext cx="2697480" cy="960120"/>
          </a:xfrm>
          <a:prstGeom prst="rect">
            <a:avLst/>
          </a:prstGeom>
          <a:noFill/>
        </p:spPr>
        <p:txBody>
          <a:bodyPr wrap="square" anchor="t">
            <a:spAutoFit/>
          </a:bodyPr>
          <a:lstStyle/>
          <a:p>
            <a:pPr algn="l"/>
            <a:r>
              <a:rPr sz="1400" b="0" i="0">
                <a:solidFill>
                  <a:srgbClr val="30363F"/>
                </a:solidFill>
                <a:latin typeface="Aptos"/>
              </a:rPr>
              <a:t>A founder is expected to be strategist, salesperson, marketer, recruiter, operator, and finance manager.</a:t>
            </a:r>
          </a:p>
        </p:txBody>
      </p:sp>
      <p:sp>
        <p:nvSpPr>
          <p:cNvPr id="14" name="Rounded Rectangle 13"/>
          <p:cNvSpPr/>
          <p:nvPr/>
        </p:nvSpPr>
        <p:spPr>
          <a:xfrm>
            <a:off x="8321040" y="2103120"/>
            <a:ext cx="3337560" cy="3063240"/>
          </a:xfrm>
          <a:prstGeom prst="roundRect">
            <a:avLst/>
          </a:prstGeom>
          <a:solidFill>
            <a:srgbClr val="FAFAF7"/>
          </a:solidFill>
          <a:ln>
            <a:solidFill>
              <a:srgbClr val="239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77072" y="2395728"/>
            <a:ext cx="457200" cy="274320"/>
          </a:xfrm>
          <a:prstGeom prst="rect">
            <a:avLst/>
          </a:prstGeom>
          <a:noFill/>
        </p:spPr>
        <p:txBody>
          <a:bodyPr wrap="square" anchor="t">
            <a:spAutoFit/>
          </a:bodyPr>
          <a:lstStyle/>
          <a:p>
            <a:pPr algn="l"/>
            <a:r>
              <a:rPr sz="1800" b="1" i="0">
                <a:solidFill>
                  <a:srgbClr val="239162"/>
                </a:solidFill>
                <a:latin typeface="Aptos"/>
              </a:rPr>
              <a:t>03</a:t>
            </a:r>
          </a:p>
        </p:txBody>
      </p:sp>
      <p:sp>
        <p:nvSpPr>
          <p:cNvPr id="16" name="TextBox 15"/>
          <p:cNvSpPr txBox="1"/>
          <p:nvPr/>
        </p:nvSpPr>
        <p:spPr>
          <a:xfrm>
            <a:off x="8577072" y="2926080"/>
            <a:ext cx="2651760" cy="320040"/>
          </a:xfrm>
          <a:prstGeom prst="rect">
            <a:avLst/>
          </a:prstGeom>
          <a:noFill/>
        </p:spPr>
        <p:txBody>
          <a:bodyPr wrap="square" anchor="t">
            <a:spAutoFit/>
          </a:bodyPr>
          <a:lstStyle/>
          <a:p>
            <a:pPr algn="l"/>
            <a:r>
              <a:rPr sz="1900" b="1" i="0">
                <a:solidFill>
                  <a:srgbClr val="14181F"/>
                </a:solidFill>
                <a:latin typeface="Aptos Display"/>
              </a:rPr>
              <a:t>Execution gap</a:t>
            </a:r>
          </a:p>
        </p:txBody>
      </p:sp>
      <p:sp>
        <p:nvSpPr>
          <p:cNvPr id="17" name="TextBox 16"/>
          <p:cNvSpPr txBox="1"/>
          <p:nvPr/>
        </p:nvSpPr>
        <p:spPr>
          <a:xfrm>
            <a:off x="8577072" y="3657600"/>
            <a:ext cx="2697480" cy="960120"/>
          </a:xfrm>
          <a:prstGeom prst="rect">
            <a:avLst/>
          </a:prstGeom>
          <a:noFill/>
        </p:spPr>
        <p:txBody>
          <a:bodyPr wrap="square" anchor="t">
            <a:spAutoFit/>
          </a:bodyPr>
          <a:lstStyle/>
          <a:p>
            <a:pPr algn="l"/>
            <a:r>
              <a:rPr sz="1400" b="0" i="0">
                <a:solidFill>
                  <a:srgbClr val="30363F"/>
                </a:solidFill>
                <a:latin typeface="Aptos"/>
              </a:rPr>
              <a:t>The distance between knowing what to do and actually implementing it remains enormous.</a:t>
            </a:r>
          </a:p>
        </p:txBody>
      </p:sp>
      <p:sp>
        <p:nvSpPr>
          <p:cNvPr id="18" name="TextBox 17"/>
          <p:cNvSpPr txBox="1"/>
          <p:nvPr/>
        </p:nvSpPr>
        <p:spPr>
          <a:xfrm>
            <a:off x="731520" y="5669280"/>
            <a:ext cx="10698480" cy="320040"/>
          </a:xfrm>
          <a:prstGeom prst="rect">
            <a:avLst/>
          </a:prstGeom>
          <a:noFill/>
        </p:spPr>
        <p:txBody>
          <a:bodyPr wrap="square" anchor="t">
            <a:spAutoFit/>
          </a:bodyPr>
          <a:lstStyle/>
          <a:p>
            <a:pPr algn="ctr"/>
            <a:r>
              <a:rPr sz="2000" b="1" i="0">
                <a:solidFill>
                  <a:srgbClr val="004EF6"/>
                </a:solidFill>
                <a:latin typeface="Aptos Display"/>
              </a:rPr>
              <a:t>Pitchvilla is being built to close this execution gap.</a:t>
            </a:r>
          </a:p>
        </p:txBody>
      </p:sp>
      <p:cxnSp>
        <p:nvCxnSpPr>
          <p:cNvPr id="19" name="Connector 18"/>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21" name="TextBox 20"/>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OUR DEFINITION</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What is Pitchvilla Startup School?</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Not an incubator. Not an agency. Not a lecture series.</a:t>
            </a:r>
          </a:p>
        </p:txBody>
      </p:sp>
      <p:sp>
        <p:nvSpPr>
          <p:cNvPr id="6" name="Rectangle 5"/>
          <p:cNvSpPr/>
          <p:nvPr/>
        </p:nvSpPr>
        <p:spPr>
          <a:xfrm>
            <a:off x="704088" y="2057400"/>
            <a:ext cx="54864" cy="1143000"/>
          </a:xfrm>
          <a:prstGeom prst="rect">
            <a:avLst/>
          </a:prstGeom>
          <a:solidFill>
            <a:srgbClr val="F6B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9784080" cy="1143000"/>
          </a:xfrm>
          <a:prstGeom prst="rect">
            <a:avLst/>
          </a:prstGeom>
          <a:noFill/>
        </p:spPr>
        <p:txBody>
          <a:bodyPr wrap="square" anchor="t">
            <a:spAutoFit/>
          </a:bodyPr>
          <a:lstStyle/>
          <a:p>
            <a:pPr algn="l"/>
            <a:r>
              <a:rPr sz="2700" b="1" i="0">
                <a:solidFill>
                  <a:srgbClr val="14181F"/>
                </a:solidFill>
                <a:latin typeface="Aptos Display"/>
              </a:rPr>
              <a:t>A founder enablement platform that helps entrepreneurs launch, restructure, and grow businesses through a shared operating environment.</a:t>
            </a:r>
          </a:p>
        </p:txBody>
      </p:sp>
      <p:cxnSp>
        <p:nvCxnSpPr>
          <p:cNvPr id="8" name="Connector 7"/>
          <p:cNvCxnSpPr/>
          <p:nvPr/>
        </p:nvCxnSpPr>
        <p:spPr>
          <a:xfrm>
            <a:off x="868680" y="3749039"/>
            <a:ext cx="10104120" cy="0"/>
          </a:xfrm>
          <a:prstGeom prst="line">
            <a:avLst/>
          </a:prstGeom>
          <a:ln w="25400">
            <a:solidFill>
              <a:srgbClr val="004EF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68680" y="4160520"/>
            <a:ext cx="2240280" cy="228600"/>
          </a:xfrm>
          <a:prstGeom prst="rect">
            <a:avLst/>
          </a:prstGeom>
          <a:noFill/>
        </p:spPr>
        <p:txBody>
          <a:bodyPr wrap="square" anchor="t">
            <a:spAutoFit/>
          </a:bodyPr>
          <a:lstStyle/>
          <a:p>
            <a:pPr algn="l"/>
            <a:r>
              <a:rPr sz="1200" b="1" i="0">
                <a:solidFill>
                  <a:srgbClr val="004EF6"/>
                </a:solidFill>
                <a:latin typeface="Aptos"/>
              </a:rPr>
              <a:t>STRATEGY</a:t>
            </a:r>
          </a:p>
        </p:txBody>
      </p:sp>
      <p:sp>
        <p:nvSpPr>
          <p:cNvPr id="10" name="TextBox 9"/>
          <p:cNvSpPr txBox="1"/>
          <p:nvPr/>
        </p:nvSpPr>
        <p:spPr>
          <a:xfrm>
            <a:off x="868680" y="4526280"/>
            <a:ext cx="2240280" cy="777240"/>
          </a:xfrm>
          <a:prstGeom prst="rect">
            <a:avLst/>
          </a:prstGeom>
          <a:noFill/>
        </p:spPr>
        <p:txBody>
          <a:bodyPr wrap="square" anchor="t">
            <a:spAutoFit/>
          </a:bodyPr>
          <a:lstStyle/>
          <a:p>
            <a:pPr algn="l"/>
            <a:r>
              <a:rPr sz="1200" b="0" i="0">
                <a:solidFill>
                  <a:srgbClr val="30363F"/>
                </a:solidFill>
                <a:latin typeface="Aptos"/>
              </a:rPr>
              <a:t>Understand the business, define the direction, and document the plan.</a:t>
            </a:r>
          </a:p>
        </p:txBody>
      </p:sp>
      <p:sp>
        <p:nvSpPr>
          <p:cNvPr id="11" name="TextBox 10"/>
          <p:cNvSpPr txBox="1"/>
          <p:nvPr/>
        </p:nvSpPr>
        <p:spPr>
          <a:xfrm>
            <a:off x="3611880" y="4160520"/>
            <a:ext cx="2240280" cy="228600"/>
          </a:xfrm>
          <a:prstGeom prst="rect">
            <a:avLst/>
          </a:prstGeom>
          <a:noFill/>
        </p:spPr>
        <p:txBody>
          <a:bodyPr wrap="square" anchor="t">
            <a:spAutoFit/>
          </a:bodyPr>
          <a:lstStyle/>
          <a:p>
            <a:pPr algn="l"/>
            <a:r>
              <a:rPr sz="1200" b="1" i="0">
                <a:solidFill>
                  <a:srgbClr val="004EF6"/>
                </a:solidFill>
                <a:latin typeface="Aptos"/>
              </a:rPr>
              <a:t>MENTORSHIP</a:t>
            </a:r>
          </a:p>
        </p:txBody>
      </p:sp>
      <p:sp>
        <p:nvSpPr>
          <p:cNvPr id="12" name="TextBox 11"/>
          <p:cNvSpPr txBox="1"/>
          <p:nvPr/>
        </p:nvSpPr>
        <p:spPr>
          <a:xfrm>
            <a:off x="3611880" y="4526280"/>
            <a:ext cx="2240280" cy="777240"/>
          </a:xfrm>
          <a:prstGeom prst="rect">
            <a:avLst/>
          </a:prstGeom>
          <a:noFill/>
        </p:spPr>
        <p:txBody>
          <a:bodyPr wrap="square" anchor="t">
            <a:spAutoFit/>
          </a:bodyPr>
          <a:lstStyle/>
          <a:p>
            <a:pPr algn="l"/>
            <a:r>
              <a:rPr sz="1200" b="0" i="0">
                <a:solidFill>
                  <a:srgbClr val="30363F"/>
                </a:solidFill>
                <a:latin typeface="Aptos"/>
              </a:rPr>
              <a:t>Connect founders with relevant experts, CXOs, and experienced entrepreneurs.</a:t>
            </a:r>
          </a:p>
        </p:txBody>
      </p:sp>
      <p:sp>
        <p:nvSpPr>
          <p:cNvPr id="13" name="TextBox 12"/>
          <p:cNvSpPr txBox="1"/>
          <p:nvPr/>
        </p:nvSpPr>
        <p:spPr>
          <a:xfrm>
            <a:off x="6355080" y="4160520"/>
            <a:ext cx="2240280" cy="228600"/>
          </a:xfrm>
          <a:prstGeom prst="rect">
            <a:avLst/>
          </a:prstGeom>
          <a:noFill/>
        </p:spPr>
        <p:txBody>
          <a:bodyPr wrap="square" anchor="t">
            <a:spAutoFit/>
          </a:bodyPr>
          <a:lstStyle/>
          <a:p>
            <a:pPr algn="l"/>
            <a:r>
              <a:rPr sz="1200" b="1" i="0">
                <a:solidFill>
                  <a:srgbClr val="004EF6"/>
                </a:solidFill>
                <a:latin typeface="Aptos"/>
              </a:rPr>
              <a:t>RESOURCES</a:t>
            </a:r>
          </a:p>
        </p:txBody>
      </p:sp>
      <p:sp>
        <p:nvSpPr>
          <p:cNvPr id="14" name="TextBox 13"/>
          <p:cNvSpPr txBox="1"/>
          <p:nvPr/>
        </p:nvSpPr>
        <p:spPr>
          <a:xfrm>
            <a:off x="6355080" y="4526280"/>
            <a:ext cx="2240280" cy="777240"/>
          </a:xfrm>
          <a:prstGeom prst="rect">
            <a:avLst/>
          </a:prstGeom>
          <a:noFill/>
        </p:spPr>
        <p:txBody>
          <a:bodyPr wrap="square" anchor="t">
            <a:spAutoFit/>
          </a:bodyPr>
          <a:lstStyle/>
          <a:p>
            <a:pPr algn="l"/>
            <a:r>
              <a:rPr sz="1200" b="0" i="0">
                <a:solidFill>
                  <a:srgbClr val="30363F"/>
                </a:solidFill>
                <a:latin typeface="Aptos"/>
              </a:rPr>
              <a:t>Provide shared technology, marketing, workspace, and operational support.</a:t>
            </a:r>
          </a:p>
        </p:txBody>
      </p:sp>
      <p:sp>
        <p:nvSpPr>
          <p:cNvPr id="15" name="TextBox 14"/>
          <p:cNvSpPr txBox="1"/>
          <p:nvPr/>
        </p:nvSpPr>
        <p:spPr>
          <a:xfrm>
            <a:off x="9098280" y="4160520"/>
            <a:ext cx="2240280" cy="228600"/>
          </a:xfrm>
          <a:prstGeom prst="rect">
            <a:avLst/>
          </a:prstGeom>
          <a:noFill/>
        </p:spPr>
        <p:txBody>
          <a:bodyPr wrap="square" anchor="t">
            <a:spAutoFit/>
          </a:bodyPr>
          <a:lstStyle/>
          <a:p>
            <a:pPr algn="l"/>
            <a:r>
              <a:rPr sz="1200" b="1" i="0">
                <a:solidFill>
                  <a:srgbClr val="004EF6"/>
                </a:solidFill>
                <a:latin typeface="Aptos"/>
              </a:rPr>
              <a:t>EXECUTION</a:t>
            </a:r>
          </a:p>
        </p:txBody>
      </p:sp>
      <p:sp>
        <p:nvSpPr>
          <p:cNvPr id="16" name="TextBox 15"/>
          <p:cNvSpPr txBox="1"/>
          <p:nvPr/>
        </p:nvSpPr>
        <p:spPr>
          <a:xfrm>
            <a:off x="9098280" y="4526280"/>
            <a:ext cx="2240280" cy="777240"/>
          </a:xfrm>
          <a:prstGeom prst="rect">
            <a:avLst/>
          </a:prstGeom>
          <a:noFill/>
        </p:spPr>
        <p:txBody>
          <a:bodyPr wrap="square" anchor="t">
            <a:spAutoFit/>
          </a:bodyPr>
          <a:lstStyle/>
          <a:p>
            <a:pPr algn="l"/>
            <a:r>
              <a:rPr sz="1200" b="0" i="0">
                <a:solidFill>
                  <a:srgbClr val="30363F"/>
                </a:solidFill>
                <a:latin typeface="Aptos"/>
              </a:rPr>
              <a:t>Create accountability through milestones, project management, and progress reviews.</a:t>
            </a:r>
          </a:p>
        </p:txBody>
      </p:sp>
      <p:cxnSp>
        <p:nvCxnSpPr>
          <p:cNvPr id="17" name="Connector 16"/>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19" name="TextBox 18"/>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WHO WE SERVE</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For founders who have started—but are stuck.</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A focused customer profile makes the program more useful, more measurable, and more effective.</a:t>
            </a:r>
          </a:p>
        </p:txBody>
      </p:sp>
      <p:sp>
        <p:nvSpPr>
          <p:cNvPr id="6" name="Rounded Rectangle 5"/>
          <p:cNvSpPr/>
          <p:nvPr/>
        </p:nvSpPr>
        <p:spPr>
          <a:xfrm>
            <a:off x="685800" y="2011680"/>
            <a:ext cx="3429000" cy="3429000"/>
          </a:xfrm>
          <a:prstGeom prst="roundRect">
            <a:avLst/>
          </a:prstGeom>
          <a:solidFill>
            <a:srgbClr val="FFFFFF"/>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359152"/>
            <a:ext cx="2788920" cy="594360"/>
          </a:xfrm>
          <a:prstGeom prst="rect">
            <a:avLst/>
          </a:prstGeom>
          <a:noFill/>
        </p:spPr>
        <p:txBody>
          <a:bodyPr wrap="square" anchor="t">
            <a:spAutoFit/>
          </a:bodyPr>
          <a:lstStyle/>
          <a:p>
            <a:pPr algn="l"/>
            <a:r>
              <a:rPr sz="1700" b="1" i="0">
                <a:solidFill>
                  <a:srgbClr val="14181F"/>
                </a:solidFill>
                <a:latin typeface="Aptos Display"/>
              </a:rPr>
              <a:t>THE STAGNANT FOUNDER</a:t>
            </a:r>
          </a:p>
        </p:txBody>
      </p:sp>
      <p:sp>
        <p:nvSpPr>
          <p:cNvPr id="8" name="TextBox 7"/>
          <p:cNvSpPr txBox="1"/>
          <p:nvPr/>
        </p:nvSpPr>
        <p:spPr>
          <a:xfrm>
            <a:off x="960120" y="3246120"/>
            <a:ext cx="2788920" cy="777240"/>
          </a:xfrm>
          <a:prstGeom prst="rect">
            <a:avLst/>
          </a:prstGeom>
          <a:noFill/>
        </p:spPr>
        <p:txBody>
          <a:bodyPr wrap="square" anchor="t">
            <a:spAutoFit/>
          </a:bodyPr>
          <a:lstStyle/>
          <a:p>
            <a:pPr algn="l"/>
            <a:r>
              <a:rPr sz="1300" b="0" i="0">
                <a:solidFill>
                  <a:srgbClr val="30363F"/>
                </a:solidFill>
                <a:latin typeface="Aptos"/>
              </a:rPr>
              <a:t>Has customers and revenue, but growth has plateaued.</a:t>
            </a:r>
          </a:p>
        </p:txBody>
      </p:sp>
      <p:sp>
        <p:nvSpPr>
          <p:cNvPr id="9" name="TextBox 8"/>
          <p:cNvSpPr txBox="1"/>
          <p:nvPr/>
        </p:nvSpPr>
        <p:spPr>
          <a:xfrm>
            <a:off x="960120" y="4315968"/>
            <a:ext cx="2468880" cy="182880"/>
          </a:xfrm>
          <a:prstGeom prst="rect">
            <a:avLst/>
          </a:prstGeom>
          <a:noFill/>
        </p:spPr>
        <p:txBody>
          <a:bodyPr wrap="square" anchor="t">
            <a:spAutoFit/>
          </a:bodyPr>
          <a:lstStyle/>
          <a:p>
            <a:pPr algn="l"/>
            <a:r>
              <a:rPr sz="1000" b="1" i="0">
                <a:solidFill>
                  <a:srgbClr val="004EF6"/>
                </a:solidFill>
                <a:latin typeface="Aptos"/>
              </a:rPr>
              <a:t>PITCHVILLA ENABLES</a:t>
            </a:r>
          </a:p>
        </p:txBody>
      </p:sp>
      <p:sp>
        <p:nvSpPr>
          <p:cNvPr id="10" name="TextBox 9"/>
          <p:cNvSpPr txBox="1"/>
          <p:nvPr/>
        </p:nvSpPr>
        <p:spPr>
          <a:xfrm>
            <a:off x="960120" y="4617720"/>
            <a:ext cx="2788920" cy="502920"/>
          </a:xfrm>
          <a:prstGeom prst="rect">
            <a:avLst/>
          </a:prstGeom>
          <a:noFill/>
        </p:spPr>
        <p:txBody>
          <a:bodyPr wrap="square" anchor="t">
            <a:spAutoFit/>
          </a:bodyPr>
          <a:lstStyle/>
          <a:p>
            <a:pPr algn="l"/>
            <a:r>
              <a:rPr sz="1300" b="0" i="0">
                <a:solidFill>
                  <a:srgbClr val="6C7480"/>
                </a:solidFill>
                <a:latin typeface="Aptos"/>
              </a:rPr>
              <a:t>Needs systems, delegation, repeatable sales, and accountability.</a:t>
            </a:r>
          </a:p>
        </p:txBody>
      </p:sp>
      <p:sp>
        <p:nvSpPr>
          <p:cNvPr id="11" name="Rounded Rectangle 10"/>
          <p:cNvSpPr/>
          <p:nvPr/>
        </p:nvSpPr>
        <p:spPr>
          <a:xfrm>
            <a:off x="4507992" y="2011680"/>
            <a:ext cx="3429000" cy="3429000"/>
          </a:xfrm>
          <a:prstGeom prst="roundRect">
            <a:avLst/>
          </a:prstGeom>
          <a:solidFill>
            <a:srgbClr val="FFFFFF"/>
          </a:solidFill>
          <a:ln>
            <a:solidFill>
              <a:srgbClr val="F6B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82312" y="2359152"/>
            <a:ext cx="2788920" cy="594360"/>
          </a:xfrm>
          <a:prstGeom prst="rect">
            <a:avLst/>
          </a:prstGeom>
          <a:noFill/>
        </p:spPr>
        <p:txBody>
          <a:bodyPr wrap="square" anchor="t">
            <a:spAutoFit/>
          </a:bodyPr>
          <a:lstStyle/>
          <a:p>
            <a:pPr algn="l"/>
            <a:r>
              <a:rPr sz="1700" b="1" i="0">
                <a:solidFill>
                  <a:srgbClr val="14181F"/>
                </a:solidFill>
                <a:latin typeface="Aptos Display"/>
              </a:rPr>
              <a:t>THE RESTRUCTURING FOUNDER</a:t>
            </a:r>
          </a:p>
        </p:txBody>
      </p:sp>
      <p:sp>
        <p:nvSpPr>
          <p:cNvPr id="13" name="TextBox 12"/>
          <p:cNvSpPr txBox="1"/>
          <p:nvPr/>
        </p:nvSpPr>
        <p:spPr>
          <a:xfrm>
            <a:off x="4782312" y="3246120"/>
            <a:ext cx="2788920" cy="777240"/>
          </a:xfrm>
          <a:prstGeom prst="rect">
            <a:avLst/>
          </a:prstGeom>
          <a:noFill/>
        </p:spPr>
        <p:txBody>
          <a:bodyPr wrap="square" anchor="t">
            <a:spAutoFit/>
          </a:bodyPr>
          <a:lstStyle/>
          <a:p>
            <a:pPr algn="l"/>
            <a:r>
              <a:rPr sz="1300" b="0" i="0">
                <a:solidFill>
                  <a:srgbClr val="30363F"/>
                </a:solidFill>
                <a:latin typeface="Aptos"/>
              </a:rPr>
              <a:t>Has an existing business model that is inefficient or difficult to scale.</a:t>
            </a:r>
          </a:p>
        </p:txBody>
      </p:sp>
      <p:sp>
        <p:nvSpPr>
          <p:cNvPr id="14" name="TextBox 13"/>
          <p:cNvSpPr txBox="1"/>
          <p:nvPr/>
        </p:nvSpPr>
        <p:spPr>
          <a:xfrm>
            <a:off x="4782312" y="4315968"/>
            <a:ext cx="2468880" cy="182880"/>
          </a:xfrm>
          <a:prstGeom prst="rect">
            <a:avLst/>
          </a:prstGeom>
          <a:noFill/>
        </p:spPr>
        <p:txBody>
          <a:bodyPr wrap="square" anchor="t">
            <a:spAutoFit/>
          </a:bodyPr>
          <a:lstStyle/>
          <a:p>
            <a:pPr algn="l"/>
            <a:r>
              <a:rPr sz="1000" b="1" i="0">
                <a:solidFill>
                  <a:srgbClr val="F6BF35"/>
                </a:solidFill>
                <a:latin typeface="Aptos"/>
              </a:rPr>
              <a:t>PITCHVILLA ENABLES</a:t>
            </a:r>
          </a:p>
        </p:txBody>
      </p:sp>
      <p:sp>
        <p:nvSpPr>
          <p:cNvPr id="15" name="TextBox 14"/>
          <p:cNvSpPr txBox="1"/>
          <p:nvPr/>
        </p:nvSpPr>
        <p:spPr>
          <a:xfrm>
            <a:off x="4782312" y="4617720"/>
            <a:ext cx="2788920" cy="502920"/>
          </a:xfrm>
          <a:prstGeom prst="rect">
            <a:avLst/>
          </a:prstGeom>
          <a:noFill/>
        </p:spPr>
        <p:txBody>
          <a:bodyPr wrap="square" anchor="t">
            <a:spAutoFit/>
          </a:bodyPr>
          <a:lstStyle/>
          <a:p>
            <a:pPr algn="l"/>
            <a:r>
              <a:rPr sz="1300" b="0" i="0">
                <a:solidFill>
                  <a:srgbClr val="6C7480"/>
                </a:solidFill>
                <a:latin typeface="Aptos"/>
              </a:rPr>
              <a:t>Needs repositioning, pricing, process redesign, and a stronger plan.</a:t>
            </a:r>
          </a:p>
        </p:txBody>
      </p:sp>
      <p:sp>
        <p:nvSpPr>
          <p:cNvPr id="16" name="Rounded Rectangle 15"/>
          <p:cNvSpPr/>
          <p:nvPr/>
        </p:nvSpPr>
        <p:spPr>
          <a:xfrm>
            <a:off x="8330183" y="2011680"/>
            <a:ext cx="3429000" cy="3429000"/>
          </a:xfrm>
          <a:prstGeom prst="roundRect">
            <a:avLst/>
          </a:prstGeom>
          <a:solidFill>
            <a:srgbClr val="FFFFFF"/>
          </a:solidFill>
          <a:ln>
            <a:solidFill>
              <a:srgbClr val="239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04504" y="2359152"/>
            <a:ext cx="2788920" cy="594360"/>
          </a:xfrm>
          <a:prstGeom prst="rect">
            <a:avLst/>
          </a:prstGeom>
          <a:noFill/>
        </p:spPr>
        <p:txBody>
          <a:bodyPr wrap="square" anchor="t">
            <a:spAutoFit/>
          </a:bodyPr>
          <a:lstStyle/>
          <a:p>
            <a:pPr algn="l"/>
            <a:r>
              <a:rPr sz="1700" b="1" i="0">
                <a:solidFill>
                  <a:srgbClr val="14181F"/>
                </a:solidFill>
                <a:latin typeface="Aptos Display"/>
              </a:rPr>
              <a:t>THE EARLY-STAGE BUILDER</a:t>
            </a:r>
          </a:p>
        </p:txBody>
      </p:sp>
      <p:sp>
        <p:nvSpPr>
          <p:cNvPr id="18" name="TextBox 17"/>
          <p:cNvSpPr txBox="1"/>
          <p:nvPr/>
        </p:nvSpPr>
        <p:spPr>
          <a:xfrm>
            <a:off x="8604504" y="3246120"/>
            <a:ext cx="2788920" cy="777240"/>
          </a:xfrm>
          <a:prstGeom prst="rect">
            <a:avLst/>
          </a:prstGeom>
          <a:noFill/>
        </p:spPr>
        <p:txBody>
          <a:bodyPr wrap="square" anchor="t">
            <a:spAutoFit/>
          </a:bodyPr>
          <a:lstStyle/>
          <a:p>
            <a:pPr algn="l"/>
            <a:r>
              <a:rPr sz="1300" b="0" i="0">
                <a:solidFill>
                  <a:srgbClr val="30363F"/>
                </a:solidFill>
                <a:latin typeface="Aptos"/>
              </a:rPr>
              <a:t>Has launched or validated an initial business idea and is ready to build properly.</a:t>
            </a:r>
          </a:p>
        </p:txBody>
      </p:sp>
      <p:sp>
        <p:nvSpPr>
          <p:cNvPr id="19" name="TextBox 18"/>
          <p:cNvSpPr txBox="1"/>
          <p:nvPr/>
        </p:nvSpPr>
        <p:spPr>
          <a:xfrm>
            <a:off x="8604504" y="4315968"/>
            <a:ext cx="2468880" cy="182880"/>
          </a:xfrm>
          <a:prstGeom prst="rect">
            <a:avLst/>
          </a:prstGeom>
          <a:noFill/>
        </p:spPr>
        <p:txBody>
          <a:bodyPr wrap="square" anchor="t">
            <a:spAutoFit/>
          </a:bodyPr>
          <a:lstStyle/>
          <a:p>
            <a:pPr algn="l"/>
            <a:r>
              <a:rPr sz="1000" b="1" i="0">
                <a:solidFill>
                  <a:srgbClr val="239162"/>
                </a:solidFill>
                <a:latin typeface="Aptos"/>
              </a:rPr>
              <a:t>PITCHVILLA ENABLES</a:t>
            </a:r>
          </a:p>
        </p:txBody>
      </p:sp>
      <p:sp>
        <p:nvSpPr>
          <p:cNvPr id="20" name="TextBox 19"/>
          <p:cNvSpPr txBox="1"/>
          <p:nvPr/>
        </p:nvSpPr>
        <p:spPr>
          <a:xfrm>
            <a:off x="8604504" y="4617720"/>
            <a:ext cx="2788920" cy="502920"/>
          </a:xfrm>
          <a:prstGeom prst="rect">
            <a:avLst/>
          </a:prstGeom>
          <a:noFill/>
        </p:spPr>
        <p:txBody>
          <a:bodyPr wrap="square" anchor="t">
            <a:spAutoFit/>
          </a:bodyPr>
          <a:lstStyle/>
          <a:p>
            <a:pPr algn="l"/>
            <a:r>
              <a:rPr sz="1300" b="0" i="0">
                <a:solidFill>
                  <a:srgbClr val="6C7480"/>
                </a:solidFill>
                <a:latin typeface="Aptos"/>
              </a:rPr>
              <a:t>Needs a commercial foundation, digital presence, CRM, and go-to-market execution.</a:t>
            </a:r>
          </a:p>
        </p:txBody>
      </p:sp>
      <p:sp>
        <p:nvSpPr>
          <p:cNvPr id="21" name="TextBox 20"/>
          <p:cNvSpPr txBox="1"/>
          <p:nvPr/>
        </p:nvSpPr>
        <p:spPr>
          <a:xfrm>
            <a:off x="731520" y="5806440"/>
            <a:ext cx="10789920" cy="274320"/>
          </a:xfrm>
          <a:prstGeom prst="rect">
            <a:avLst/>
          </a:prstGeom>
          <a:noFill/>
        </p:spPr>
        <p:txBody>
          <a:bodyPr wrap="square" anchor="t">
            <a:spAutoFit/>
          </a:bodyPr>
          <a:lstStyle/>
          <a:p>
            <a:pPr algn="ctr"/>
            <a:r>
              <a:rPr sz="1200" b="0" i="0">
                <a:solidFill>
                  <a:srgbClr val="6C7480"/>
                </a:solidFill>
                <a:latin typeface="Aptos"/>
              </a:rPr>
              <a:t>Ideal participant: a founder with a clear commercial opportunity and the willingness to commit six months to structured execution.</a:t>
            </a:r>
          </a:p>
        </p:txBody>
      </p:sp>
      <p:cxnSp>
        <p:nvCxnSpPr>
          <p:cNvPr id="22" name="Connector 21"/>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24" name="TextBox 23"/>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THE PROMISE</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We do not build the business for the founder.</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We create the environment, direction, and access that help the founder build it better.</a:t>
            </a:r>
          </a:p>
        </p:txBody>
      </p:sp>
      <p:sp>
        <p:nvSpPr>
          <p:cNvPr id="6" name="Rounded Rectangle 5"/>
          <p:cNvSpPr/>
          <p:nvPr/>
        </p:nvSpPr>
        <p:spPr>
          <a:xfrm>
            <a:off x="777240" y="2057400"/>
            <a:ext cx="4983480" cy="3246120"/>
          </a:xfrm>
          <a:prstGeom prst="roundRect">
            <a:avLst/>
          </a:prstGeom>
          <a:solidFill>
            <a:srgbClr val="14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606040"/>
            <a:ext cx="4206240" cy="731520"/>
          </a:xfrm>
          <a:prstGeom prst="rect">
            <a:avLst/>
          </a:prstGeom>
          <a:noFill/>
        </p:spPr>
        <p:txBody>
          <a:bodyPr wrap="square" anchor="t">
            <a:spAutoFit/>
          </a:bodyPr>
          <a:lstStyle/>
          <a:p>
            <a:pPr algn="ctr"/>
            <a:r>
              <a:rPr sz="2700" b="1" i="0">
                <a:solidFill>
                  <a:srgbClr val="FFFFFF"/>
                </a:solidFill>
                <a:latin typeface="Aptos Display"/>
              </a:rPr>
              <a:t>THE FOUNDER
REMAINS THE BUILDER.</a:t>
            </a:r>
          </a:p>
        </p:txBody>
      </p:sp>
      <p:sp>
        <p:nvSpPr>
          <p:cNvPr id="8" name="TextBox 7"/>
          <p:cNvSpPr txBox="1"/>
          <p:nvPr/>
        </p:nvSpPr>
        <p:spPr>
          <a:xfrm>
            <a:off x="1143000" y="3886200"/>
            <a:ext cx="4206240" cy="548640"/>
          </a:xfrm>
          <a:prstGeom prst="rect">
            <a:avLst/>
          </a:prstGeom>
          <a:noFill/>
        </p:spPr>
        <p:txBody>
          <a:bodyPr wrap="square" anchor="t">
            <a:spAutoFit/>
          </a:bodyPr>
          <a:lstStyle/>
          <a:p>
            <a:pPr algn="ctr"/>
            <a:r>
              <a:rPr sz="1700" b="1" i="0">
                <a:solidFill>
                  <a:srgbClr val="F6BF35"/>
                </a:solidFill>
                <a:latin typeface="Aptos"/>
              </a:rPr>
              <a:t>Ownership stays with the founder.
Progress becomes structured.</a:t>
            </a:r>
          </a:p>
        </p:txBody>
      </p:sp>
      <p:sp>
        <p:nvSpPr>
          <p:cNvPr id="9" name="Rounded Rectangle 8"/>
          <p:cNvSpPr/>
          <p:nvPr/>
        </p:nvSpPr>
        <p:spPr>
          <a:xfrm>
            <a:off x="6172200" y="2057400"/>
            <a:ext cx="4983480" cy="3246120"/>
          </a:xfrm>
          <a:prstGeom prst="roundRect">
            <a:avLst/>
          </a:prstGeom>
          <a:solidFill>
            <a:srgbClr val="EB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606040"/>
            <a:ext cx="4206240" cy="731520"/>
          </a:xfrm>
          <a:prstGeom prst="rect">
            <a:avLst/>
          </a:prstGeom>
          <a:noFill/>
        </p:spPr>
        <p:txBody>
          <a:bodyPr wrap="square" anchor="t">
            <a:spAutoFit/>
          </a:bodyPr>
          <a:lstStyle/>
          <a:p>
            <a:pPr algn="ctr"/>
            <a:r>
              <a:rPr sz="2700" b="1" i="0">
                <a:solidFill>
                  <a:srgbClr val="004EF6"/>
                </a:solidFill>
                <a:latin typeface="Aptos Display"/>
              </a:rPr>
              <a:t>PITCHVILLA PROVIDES
THE BACKBONE.</a:t>
            </a:r>
          </a:p>
        </p:txBody>
      </p:sp>
      <p:sp>
        <p:nvSpPr>
          <p:cNvPr id="11" name="TextBox 10"/>
          <p:cNvSpPr txBox="1"/>
          <p:nvPr/>
        </p:nvSpPr>
        <p:spPr>
          <a:xfrm>
            <a:off x="6537960" y="3886200"/>
            <a:ext cx="4206240" cy="548640"/>
          </a:xfrm>
          <a:prstGeom prst="rect">
            <a:avLst/>
          </a:prstGeom>
          <a:noFill/>
        </p:spPr>
        <p:txBody>
          <a:bodyPr wrap="square" anchor="t">
            <a:spAutoFit/>
          </a:bodyPr>
          <a:lstStyle/>
          <a:p>
            <a:pPr algn="ctr"/>
            <a:r>
              <a:rPr sz="1700" b="1" i="0">
                <a:solidFill>
                  <a:srgbClr val="14181F"/>
                </a:solidFill>
                <a:latin typeface="Aptos"/>
              </a:rPr>
              <a:t>Direction • Mentorship • Resources
Systems • Accountability</a:t>
            </a:r>
          </a:p>
        </p:txBody>
      </p:sp>
      <p:cxnSp>
        <p:nvCxnSpPr>
          <p:cNvPr id="12" name="Connector 11"/>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14" name="TextBox 13"/>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THE SIX-MONTH JOURNEY</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From business diagnosis to a stronger operating foundation.</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A structured journey with clear themes, deliverables, and founder participation.</a:t>
            </a:r>
          </a:p>
        </p:txBody>
      </p:sp>
      <p:sp>
        <p:nvSpPr>
          <p:cNvPr id="6" name="Rounded Rectangle 5"/>
          <p:cNvSpPr/>
          <p:nvPr/>
        </p:nvSpPr>
        <p:spPr>
          <a:xfrm>
            <a:off x="731520" y="2011680"/>
            <a:ext cx="3383280" cy="128016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594360" cy="128016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50592"/>
            <a:ext cx="365760" cy="228600"/>
          </a:xfrm>
          <a:prstGeom prst="rect">
            <a:avLst/>
          </a:prstGeom>
          <a:noFill/>
        </p:spPr>
        <p:txBody>
          <a:bodyPr wrap="square" anchor="t">
            <a:spAutoFit/>
          </a:bodyPr>
          <a:lstStyle/>
          <a:p>
            <a:pPr algn="ctr"/>
            <a:r>
              <a:rPr sz="1700" b="1" i="0">
                <a:solidFill>
                  <a:srgbClr val="FFFFFF"/>
                </a:solidFill>
                <a:latin typeface="Aptos"/>
              </a:rPr>
              <a:t>01</a:t>
            </a:r>
          </a:p>
        </p:txBody>
      </p:sp>
      <p:sp>
        <p:nvSpPr>
          <p:cNvPr id="9" name="TextBox 8"/>
          <p:cNvSpPr txBox="1"/>
          <p:nvPr/>
        </p:nvSpPr>
        <p:spPr>
          <a:xfrm>
            <a:off x="1536192" y="2212848"/>
            <a:ext cx="2194560" cy="228600"/>
          </a:xfrm>
          <a:prstGeom prst="rect">
            <a:avLst/>
          </a:prstGeom>
          <a:noFill/>
        </p:spPr>
        <p:txBody>
          <a:bodyPr wrap="square" anchor="t">
            <a:spAutoFit/>
          </a:bodyPr>
          <a:lstStyle/>
          <a:p>
            <a:pPr algn="l"/>
            <a:r>
              <a:rPr sz="1500" b="1" i="0">
                <a:solidFill>
                  <a:srgbClr val="14181F"/>
                </a:solidFill>
                <a:latin typeface="Aptos"/>
              </a:rPr>
              <a:t>DIAGNOSE</a:t>
            </a:r>
          </a:p>
        </p:txBody>
      </p:sp>
      <p:sp>
        <p:nvSpPr>
          <p:cNvPr id="10" name="TextBox 9"/>
          <p:cNvSpPr txBox="1"/>
          <p:nvPr/>
        </p:nvSpPr>
        <p:spPr>
          <a:xfrm>
            <a:off x="1536192" y="2606040"/>
            <a:ext cx="2240280" cy="475488"/>
          </a:xfrm>
          <a:prstGeom prst="rect">
            <a:avLst/>
          </a:prstGeom>
          <a:noFill/>
        </p:spPr>
        <p:txBody>
          <a:bodyPr wrap="square" anchor="t">
            <a:spAutoFit/>
          </a:bodyPr>
          <a:lstStyle/>
          <a:p>
            <a:pPr algn="l"/>
            <a:r>
              <a:rPr sz="1100" b="0" i="0">
                <a:solidFill>
                  <a:srgbClr val="6C7480"/>
                </a:solidFill>
                <a:latin typeface="Aptos"/>
              </a:rPr>
              <a:t>Business assessment
Founder goals
180-day roadmap</a:t>
            </a:r>
          </a:p>
        </p:txBody>
      </p:sp>
      <p:sp>
        <p:nvSpPr>
          <p:cNvPr id="11" name="Rounded Rectangle 10"/>
          <p:cNvSpPr/>
          <p:nvPr/>
        </p:nvSpPr>
        <p:spPr>
          <a:xfrm>
            <a:off x="4480559" y="2011680"/>
            <a:ext cx="3383280" cy="128016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59" y="2011680"/>
            <a:ext cx="594360" cy="128016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450592"/>
            <a:ext cx="365760" cy="228600"/>
          </a:xfrm>
          <a:prstGeom prst="rect">
            <a:avLst/>
          </a:prstGeom>
          <a:noFill/>
        </p:spPr>
        <p:txBody>
          <a:bodyPr wrap="square" anchor="t">
            <a:spAutoFit/>
          </a:bodyPr>
          <a:lstStyle/>
          <a:p>
            <a:pPr algn="ctr"/>
            <a:r>
              <a:rPr sz="1700" b="1" i="0">
                <a:solidFill>
                  <a:srgbClr val="FFFFFF"/>
                </a:solidFill>
                <a:latin typeface="Aptos"/>
              </a:rPr>
              <a:t>02</a:t>
            </a:r>
          </a:p>
        </p:txBody>
      </p:sp>
      <p:sp>
        <p:nvSpPr>
          <p:cNvPr id="14" name="TextBox 13"/>
          <p:cNvSpPr txBox="1"/>
          <p:nvPr/>
        </p:nvSpPr>
        <p:spPr>
          <a:xfrm>
            <a:off x="5285231" y="2212848"/>
            <a:ext cx="2194560" cy="228600"/>
          </a:xfrm>
          <a:prstGeom prst="rect">
            <a:avLst/>
          </a:prstGeom>
          <a:noFill/>
        </p:spPr>
        <p:txBody>
          <a:bodyPr wrap="square" anchor="t">
            <a:spAutoFit/>
          </a:bodyPr>
          <a:lstStyle/>
          <a:p>
            <a:pPr algn="l"/>
            <a:r>
              <a:rPr sz="1500" b="1" i="0">
                <a:solidFill>
                  <a:srgbClr val="14181F"/>
                </a:solidFill>
                <a:latin typeface="Aptos"/>
              </a:rPr>
              <a:t>STRATEGIZE</a:t>
            </a:r>
          </a:p>
        </p:txBody>
      </p:sp>
      <p:sp>
        <p:nvSpPr>
          <p:cNvPr id="15" name="TextBox 14"/>
          <p:cNvSpPr txBox="1"/>
          <p:nvPr/>
        </p:nvSpPr>
        <p:spPr>
          <a:xfrm>
            <a:off x="5285231" y="2606040"/>
            <a:ext cx="2240280" cy="475488"/>
          </a:xfrm>
          <a:prstGeom prst="rect">
            <a:avLst/>
          </a:prstGeom>
          <a:noFill/>
        </p:spPr>
        <p:txBody>
          <a:bodyPr wrap="square" anchor="t">
            <a:spAutoFit/>
          </a:bodyPr>
          <a:lstStyle/>
          <a:p>
            <a:pPr algn="l"/>
            <a:r>
              <a:rPr sz="1100" b="0" i="0">
                <a:solidFill>
                  <a:srgbClr val="6C7480"/>
                </a:solidFill>
                <a:latin typeface="Aptos"/>
              </a:rPr>
              <a:t>Positioning
Pricing
Business model &amp; plan</a:t>
            </a:r>
          </a:p>
        </p:txBody>
      </p:sp>
      <p:sp>
        <p:nvSpPr>
          <p:cNvPr id="16" name="Rounded Rectangle 15"/>
          <p:cNvSpPr/>
          <p:nvPr/>
        </p:nvSpPr>
        <p:spPr>
          <a:xfrm>
            <a:off x="8229600" y="2011680"/>
            <a:ext cx="3383280" cy="128016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011680"/>
            <a:ext cx="594360" cy="128016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2450592"/>
            <a:ext cx="365760" cy="228600"/>
          </a:xfrm>
          <a:prstGeom prst="rect">
            <a:avLst/>
          </a:prstGeom>
          <a:noFill/>
        </p:spPr>
        <p:txBody>
          <a:bodyPr wrap="square" anchor="t">
            <a:spAutoFit/>
          </a:bodyPr>
          <a:lstStyle/>
          <a:p>
            <a:pPr algn="ctr"/>
            <a:r>
              <a:rPr sz="1700" b="1" i="0">
                <a:solidFill>
                  <a:srgbClr val="FFFFFF"/>
                </a:solidFill>
                <a:latin typeface="Aptos"/>
              </a:rPr>
              <a:t>03</a:t>
            </a:r>
          </a:p>
        </p:txBody>
      </p:sp>
      <p:sp>
        <p:nvSpPr>
          <p:cNvPr id="19" name="TextBox 18"/>
          <p:cNvSpPr txBox="1"/>
          <p:nvPr/>
        </p:nvSpPr>
        <p:spPr>
          <a:xfrm>
            <a:off x="9034272" y="2212848"/>
            <a:ext cx="2194560" cy="228600"/>
          </a:xfrm>
          <a:prstGeom prst="rect">
            <a:avLst/>
          </a:prstGeom>
          <a:noFill/>
        </p:spPr>
        <p:txBody>
          <a:bodyPr wrap="square" anchor="t">
            <a:spAutoFit/>
          </a:bodyPr>
          <a:lstStyle/>
          <a:p>
            <a:pPr algn="l"/>
            <a:r>
              <a:rPr sz="1500" b="1" i="0">
                <a:solidFill>
                  <a:srgbClr val="14181F"/>
                </a:solidFill>
                <a:latin typeface="Aptos"/>
              </a:rPr>
              <a:t>VALIDATE</a:t>
            </a:r>
          </a:p>
        </p:txBody>
      </p:sp>
      <p:sp>
        <p:nvSpPr>
          <p:cNvPr id="20" name="TextBox 19"/>
          <p:cNvSpPr txBox="1"/>
          <p:nvPr/>
        </p:nvSpPr>
        <p:spPr>
          <a:xfrm>
            <a:off x="9034272" y="2606040"/>
            <a:ext cx="2240280" cy="475488"/>
          </a:xfrm>
          <a:prstGeom prst="rect">
            <a:avLst/>
          </a:prstGeom>
          <a:noFill/>
        </p:spPr>
        <p:txBody>
          <a:bodyPr wrap="square" anchor="t">
            <a:spAutoFit/>
          </a:bodyPr>
          <a:lstStyle/>
          <a:p>
            <a:pPr algn="l"/>
            <a:r>
              <a:rPr sz="1100" b="0" i="0">
                <a:solidFill>
                  <a:srgbClr val="6C7480"/>
                </a:solidFill>
                <a:latin typeface="Aptos"/>
              </a:rPr>
              <a:t>Customer discovery
MVP refinement
Commercial experiments</a:t>
            </a:r>
          </a:p>
        </p:txBody>
      </p:sp>
      <p:sp>
        <p:nvSpPr>
          <p:cNvPr id="21" name="Rounded Rectangle 20"/>
          <p:cNvSpPr/>
          <p:nvPr/>
        </p:nvSpPr>
        <p:spPr>
          <a:xfrm>
            <a:off x="731520" y="3657600"/>
            <a:ext cx="3383280" cy="128016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657600"/>
            <a:ext cx="594360" cy="128016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096512"/>
            <a:ext cx="365760" cy="228600"/>
          </a:xfrm>
          <a:prstGeom prst="rect">
            <a:avLst/>
          </a:prstGeom>
          <a:noFill/>
        </p:spPr>
        <p:txBody>
          <a:bodyPr wrap="square" anchor="t">
            <a:spAutoFit/>
          </a:bodyPr>
          <a:lstStyle/>
          <a:p>
            <a:pPr algn="ctr"/>
            <a:r>
              <a:rPr sz="1700" b="1" i="0">
                <a:solidFill>
                  <a:srgbClr val="FFFFFF"/>
                </a:solidFill>
                <a:latin typeface="Aptos"/>
              </a:rPr>
              <a:t>04</a:t>
            </a:r>
          </a:p>
        </p:txBody>
      </p:sp>
      <p:sp>
        <p:nvSpPr>
          <p:cNvPr id="24" name="TextBox 23"/>
          <p:cNvSpPr txBox="1"/>
          <p:nvPr/>
        </p:nvSpPr>
        <p:spPr>
          <a:xfrm>
            <a:off x="1536192" y="3858768"/>
            <a:ext cx="2194560" cy="228600"/>
          </a:xfrm>
          <a:prstGeom prst="rect">
            <a:avLst/>
          </a:prstGeom>
          <a:noFill/>
        </p:spPr>
        <p:txBody>
          <a:bodyPr wrap="square" anchor="t">
            <a:spAutoFit/>
          </a:bodyPr>
          <a:lstStyle/>
          <a:p>
            <a:pPr algn="l"/>
            <a:r>
              <a:rPr sz="1500" b="1" i="0">
                <a:solidFill>
                  <a:srgbClr val="14181F"/>
                </a:solidFill>
                <a:latin typeface="Aptos"/>
              </a:rPr>
              <a:t>BUILD</a:t>
            </a:r>
          </a:p>
        </p:txBody>
      </p:sp>
      <p:sp>
        <p:nvSpPr>
          <p:cNvPr id="25" name="TextBox 24"/>
          <p:cNvSpPr txBox="1"/>
          <p:nvPr/>
        </p:nvSpPr>
        <p:spPr>
          <a:xfrm>
            <a:off x="1536192" y="4251960"/>
            <a:ext cx="2240280" cy="475488"/>
          </a:xfrm>
          <a:prstGeom prst="rect">
            <a:avLst/>
          </a:prstGeom>
          <a:noFill/>
        </p:spPr>
        <p:txBody>
          <a:bodyPr wrap="square" anchor="t">
            <a:spAutoFit/>
          </a:bodyPr>
          <a:lstStyle/>
          <a:p>
            <a:pPr algn="l"/>
            <a:r>
              <a:rPr sz="1100" b="0" i="0">
                <a:solidFill>
                  <a:srgbClr val="6C7480"/>
                </a:solidFill>
                <a:latin typeface="Aptos"/>
              </a:rPr>
              <a:t>Website
CRM
Brand &amp; go-to-market</a:t>
            </a:r>
          </a:p>
        </p:txBody>
      </p:sp>
      <p:sp>
        <p:nvSpPr>
          <p:cNvPr id="26" name="Rounded Rectangle 25"/>
          <p:cNvSpPr/>
          <p:nvPr/>
        </p:nvSpPr>
        <p:spPr>
          <a:xfrm>
            <a:off x="4480559" y="3657600"/>
            <a:ext cx="3383280" cy="128016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80559" y="3657600"/>
            <a:ext cx="594360" cy="128016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0288" y="4096512"/>
            <a:ext cx="365760" cy="228600"/>
          </a:xfrm>
          <a:prstGeom prst="rect">
            <a:avLst/>
          </a:prstGeom>
          <a:noFill/>
        </p:spPr>
        <p:txBody>
          <a:bodyPr wrap="square" anchor="t">
            <a:spAutoFit/>
          </a:bodyPr>
          <a:lstStyle/>
          <a:p>
            <a:pPr algn="ctr"/>
            <a:r>
              <a:rPr sz="1700" b="1" i="0">
                <a:solidFill>
                  <a:srgbClr val="FFFFFF"/>
                </a:solidFill>
                <a:latin typeface="Aptos"/>
              </a:rPr>
              <a:t>05</a:t>
            </a:r>
          </a:p>
        </p:txBody>
      </p:sp>
      <p:sp>
        <p:nvSpPr>
          <p:cNvPr id="29" name="TextBox 28"/>
          <p:cNvSpPr txBox="1"/>
          <p:nvPr/>
        </p:nvSpPr>
        <p:spPr>
          <a:xfrm>
            <a:off x="5285231" y="3858768"/>
            <a:ext cx="2194560" cy="228600"/>
          </a:xfrm>
          <a:prstGeom prst="rect">
            <a:avLst/>
          </a:prstGeom>
          <a:noFill/>
        </p:spPr>
        <p:txBody>
          <a:bodyPr wrap="square" anchor="t">
            <a:spAutoFit/>
          </a:bodyPr>
          <a:lstStyle/>
          <a:p>
            <a:pPr algn="l"/>
            <a:r>
              <a:rPr sz="1500" b="1" i="0">
                <a:solidFill>
                  <a:srgbClr val="14181F"/>
                </a:solidFill>
                <a:latin typeface="Aptos"/>
              </a:rPr>
              <a:t>SYSTEMIZE</a:t>
            </a:r>
          </a:p>
        </p:txBody>
      </p:sp>
      <p:sp>
        <p:nvSpPr>
          <p:cNvPr id="30" name="TextBox 29"/>
          <p:cNvSpPr txBox="1"/>
          <p:nvPr/>
        </p:nvSpPr>
        <p:spPr>
          <a:xfrm>
            <a:off x="5285231" y="4251960"/>
            <a:ext cx="2240280" cy="475488"/>
          </a:xfrm>
          <a:prstGeom prst="rect">
            <a:avLst/>
          </a:prstGeom>
          <a:noFill/>
        </p:spPr>
        <p:txBody>
          <a:bodyPr wrap="square" anchor="t">
            <a:spAutoFit/>
          </a:bodyPr>
          <a:lstStyle/>
          <a:p>
            <a:pPr algn="l"/>
            <a:r>
              <a:rPr sz="1100" b="0" i="0">
                <a:solidFill>
                  <a:srgbClr val="6C7480"/>
                </a:solidFill>
                <a:latin typeface="Aptos"/>
              </a:rPr>
              <a:t>SOPs
Automation
Hiring &amp; delegation</a:t>
            </a:r>
          </a:p>
        </p:txBody>
      </p:sp>
      <p:sp>
        <p:nvSpPr>
          <p:cNvPr id="31" name="Rounded Rectangle 30"/>
          <p:cNvSpPr/>
          <p:nvPr/>
        </p:nvSpPr>
        <p:spPr>
          <a:xfrm>
            <a:off x="8229600" y="3657600"/>
            <a:ext cx="3383280" cy="128016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657600"/>
            <a:ext cx="594360" cy="128016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7" y="4096512"/>
            <a:ext cx="365760" cy="228600"/>
          </a:xfrm>
          <a:prstGeom prst="rect">
            <a:avLst/>
          </a:prstGeom>
          <a:noFill/>
        </p:spPr>
        <p:txBody>
          <a:bodyPr wrap="square" anchor="t">
            <a:spAutoFit/>
          </a:bodyPr>
          <a:lstStyle/>
          <a:p>
            <a:pPr algn="ctr"/>
            <a:r>
              <a:rPr sz="1700" b="1" i="0">
                <a:solidFill>
                  <a:srgbClr val="FFFFFF"/>
                </a:solidFill>
                <a:latin typeface="Aptos"/>
              </a:rPr>
              <a:t>06</a:t>
            </a:r>
          </a:p>
        </p:txBody>
      </p:sp>
      <p:sp>
        <p:nvSpPr>
          <p:cNvPr id="34" name="TextBox 33"/>
          <p:cNvSpPr txBox="1"/>
          <p:nvPr/>
        </p:nvSpPr>
        <p:spPr>
          <a:xfrm>
            <a:off x="9034272" y="3858768"/>
            <a:ext cx="2194560" cy="228600"/>
          </a:xfrm>
          <a:prstGeom prst="rect">
            <a:avLst/>
          </a:prstGeom>
          <a:noFill/>
        </p:spPr>
        <p:txBody>
          <a:bodyPr wrap="square" anchor="t">
            <a:spAutoFit/>
          </a:bodyPr>
          <a:lstStyle/>
          <a:p>
            <a:pPr algn="l"/>
            <a:r>
              <a:rPr sz="1500" b="1" i="0">
                <a:solidFill>
                  <a:srgbClr val="14181F"/>
                </a:solidFill>
                <a:latin typeface="Aptos"/>
              </a:rPr>
              <a:t>ADVANCE</a:t>
            </a:r>
          </a:p>
        </p:txBody>
      </p:sp>
      <p:sp>
        <p:nvSpPr>
          <p:cNvPr id="35" name="TextBox 34"/>
          <p:cNvSpPr txBox="1"/>
          <p:nvPr/>
        </p:nvSpPr>
        <p:spPr>
          <a:xfrm>
            <a:off x="9034272" y="4251960"/>
            <a:ext cx="2240280" cy="475488"/>
          </a:xfrm>
          <a:prstGeom prst="rect">
            <a:avLst/>
          </a:prstGeom>
          <a:noFill/>
        </p:spPr>
        <p:txBody>
          <a:bodyPr wrap="square" anchor="t">
            <a:spAutoFit/>
          </a:bodyPr>
          <a:lstStyle/>
          <a:p>
            <a:pPr algn="l"/>
            <a:r>
              <a:rPr sz="1100" b="0" i="0">
                <a:solidFill>
                  <a:srgbClr val="6C7480"/>
                </a:solidFill>
                <a:latin typeface="Aptos"/>
              </a:rPr>
              <a:t>Business review
Investor readiness
Next-stage roadmap</a:t>
            </a:r>
          </a:p>
        </p:txBody>
      </p:sp>
      <p:cxnSp>
        <p:nvCxnSpPr>
          <p:cNvPr id="36" name="Connector 35"/>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38" name="TextBox 37"/>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THE PLATFORM</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A founder gets access to an operating ecosystem.</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The program combines shared infrastructure with structured, defined support.</a:t>
            </a:r>
          </a:p>
        </p:txBody>
      </p:sp>
      <p:sp>
        <p:nvSpPr>
          <p:cNvPr id="6" name="Rounded Rectangle 5"/>
          <p:cNvSpPr/>
          <p:nvPr/>
        </p:nvSpPr>
        <p:spPr>
          <a:xfrm>
            <a:off x="731520" y="1965960"/>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65960"/>
            <a:ext cx="82296" cy="612648"/>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66543"/>
            <a:ext cx="1737360" cy="201168"/>
          </a:xfrm>
          <a:prstGeom prst="rect">
            <a:avLst/>
          </a:prstGeom>
          <a:noFill/>
        </p:spPr>
        <p:txBody>
          <a:bodyPr wrap="square" anchor="t">
            <a:spAutoFit/>
          </a:bodyPr>
          <a:lstStyle/>
          <a:p>
            <a:pPr algn="l"/>
            <a:r>
              <a:rPr sz="1300" b="1" i="0">
                <a:solidFill>
                  <a:srgbClr val="14181F"/>
                </a:solidFill>
                <a:latin typeface="Aptos"/>
              </a:rPr>
              <a:t>Business strategy</a:t>
            </a:r>
          </a:p>
        </p:txBody>
      </p:sp>
      <p:sp>
        <p:nvSpPr>
          <p:cNvPr id="9" name="TextBox 8"/>
          <p:cNvSpPr txBox="1"/>
          <p:nvPr/>
        </p:nvSpPr>
        <p:spPr>
          <a:xfrm>
            <a:off x="2697480" y="2066543"/>
            <a:ext cx="2880360" cy="320040"/>
          </a:xfrm>
          <a:prstGeom prst="rect">
            <a:avLst/>
          </a:prstGeom>
          <a:noFill/>
        </p:spPr>
        <p:txBody>
          <a:bodyPr wrap="square" anchor="t">
            <a:spAutoFit/>
          </a:bodyPr>
          <a:lstStyle/>
          <a:p>
            <a:pPr algn="l"/>
            <a:r>
              <a:rPr sz="1100" b="0" i="0">
                <a:solidFill>
                  <a:srgbClr val="6C7480"/>
                </a:solidFill>
                <a:latin typeface="Aptos"/>
              </a:rPr>
              <a:t>Business diagnosis, restructuring inputs, business plan, financial model</a:t>
            </a:r>
          </a:p>
        </p:txBody>
      </p:sp>
      <p:sp>
        <p:nvSpPr>
          <p:cNvPr id="10" name="Rounded Rectangle 9"/>
          <p:cNvSpPr/>
          <p:nvPr/>
        </p:nvSpPr>
        <p:spPr>
          <a:xfrm>
            <a:off x="6217920" y="1965960"/>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965960"/>
            <a:ext cx="82296" cy="612648"/>
          </a:xfrm>
          <a:prstGeom prst="rect">
            <a:avLst/>
          </a:prstGeom>
          <a:solidFill>
            <a:srgbClr val="F6B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066543"/>
            <a:ext cx="1737360" cy="201168"/>
          </a:xfrm>
          <a:prstGeom prst="rect">
            <a:avLst/>
          </a:prstGeom>
          <a:noFill/>
        </p:spPr>
        <p:txBody>
          <a:bodyPr wrap="square" anchor="t">
            <a:spAutoFit/>
          </a:bodyPr>
          <a:lstStyle/>
          <a:p>
            <a:pPr algn="l"/>
            <a:r>
              <a:rPr sz="1300" b="1" i="0">
                <a:solidFill>
                  <a:srgbClr val="14181F"/>
                </a:solidFill>
                <a:latin typeface="Aptos"/>
              </a:rPr>
              <a:t>Mentorship</a:t>
            </a:r>
          </a:p>
        </p:txBody>
      </p:sp>
      <p:sp>
        <p:nvSpPr>
          <p:cNvPr id="13" name="TextBox 12"/>
          <p:cNvSpPr txBox="1"/>
          <p:nvPr/>
        </p:nvSpPr>
        <p:spPr>
          <a:xfrm>
            <a:off x="8183879" y="2066543"/>
            <a:ext cx="2880360" cy="320040"/>
          </a:xfrm>
          <a:prstGeom prst="rect">
            <a:avLst/>
          </a:prstGeom>
          <a:noFill/>
        </p:spPr>
        <p:txBody>
          <a:bodyPr wrap="square" anchor="t">
            <a:spAutoFit/>
          </a:bodyPr>
          <a:lstStyle/>
          <a:p>
            <a:pPr algn="l"/>
            <a:r>
              <a:rPr sz="1100" b="0" i="0">
                <a:solidFill>
                  <a:srgbClr val="6C7480"/>
                </a:solidFill>
                <a:latin typeface="Aptos"/>
              </a:rPr>
              <a:t>Relevant domain experts, CXOs, experienced startup founders</a:t>
            </a:r>
          </a:p>
        </p:txBody>
      </p:sp>
      <p:sp>
        <p:nvSpPr>
          <p:cNvPr id="14" name="Rounded Rectangle 13"/>
          <p:cNvSpPr/>
          <p:nvPr/>
        </p:nvSpPr>
        <p:spPr>
          <a:xfrm>
            <a:off x="731520" y="2807208"/>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2807208"/>
            <a:ext cx="82296" cy="612648"/>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907791"/>
            <a:ext cx="1737360" cy="201168"/>
          </a:xfrm>
          <a:prstGeom prst="rect">
            <a:avLst/>
          </a:prstGeom>
          <a:noFill/>
        </p:spPr>
        <p:txBody>
          <a:bodyPr wrap="square" anchor="t">
            <a:spAutoFit/>
          </a:bodyPr>
          <a:lstStyle/>
          <a:p>
            <a:pPr algn="l"/>
            <a:r>
              <a:rPr sz="1300" b="1" i="0">
                <a:solidFill>
                  <a:srgbClr val="14181F"/>
                </a:solidFill>
                <a:latin typeface="Aptos"/>
              </a:rPr>
              <a:t>Project management</a:t>
            </a:r>
          </a:p>
        </p:txBody>
      </p:sp>
      <p:sp>
        <p:nvSpPr>
          <p:cNvPr id="17" name="TextBox 16"/>
          <p:cNvSpPr txBox="1"/>
          <p:nvPr/>
        </p:nvSpPr>
        <p:spPr>
          <a:xfrm>
            <a:off x="2697480" y="2907791"/>
            <a:ext cx="2880360" cy="320040"/>
          </a:xfrm>
          <a:prstGeom prst="rect">
            <a:avLst/>
          </a:prstGeom>
          <a:noFill/>
        </p:spPr>
        <p:txBody>
          <a:bodyPr wrap="square" anchor="t">
            <a:spAutoFit/>
          </a:bodyPr>
          <a:lstStyle/>
          <a:p>
            <a:pPr algn="l"/>
            <a:r>
              <a:rPr sz="1100" b="0" i="0">
                <a:solidFill>
                  <a:srgbClr val="6C7480"/>
                </a:solidFill>
                <a:latin typeface="Aptos"/>
              </a:rPr>
              <a:t>Dedicated progress coordination, milestone tracking, monthly reviews</a:t>
            </a:r>
          </a:p>
        </p:txBody>
      </p:sp>
      <p:sp>
        <p:nvSpPr>
          <p:cNvPr id="18" name="Rounded Rectangle 17"/>
          <p:cNvSpPr/>
          <p:nvPr/>
        </p:nvSpPr>
        <p:spPr>
          <a:xfrm>
            <a:off x="6217920" y="2807208"/>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807208"/>
            <a:ext cx="82296" cy="612648"/>
          </a:xfrm>
          <a:prstGeom prst="rect">
            <a:avLst/>
          </a:prstGeom>
          <a:solidFill>
            <a:srgbClr val="F6B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907791"/>
            <a:ext cx="1737360" cy="201168"/>
          </a:xfrm>
          <a:prstGeom prst="rect">
            <a:avLst/>
          </a:prstGeom>
          <a:noFill/>
        </p:spPr>
        <p:txBody>
          <a:bodyPr wrap="square" anchor="t">
            <a:spAutoFit/>
          </a:bodyPr>
          <a:lstStyle/>
          <a:p>
            <a:pPr algn="l"/>
            <a:r>
              <a:rPr sz="1300" b="1" i="0">
                <a:solidFill>
                  <a:srgbClr val="14181F"/>
                </a:solidFill>
                <a:latin typeface="Aptos"/>
              </a:rPr>
              <a:t>Technology</a:t>
            </a:r>
          </a:p>
        </p:txBody>
      </p:sp>
      <p:sp>
        <p:nvSpPr>
          <p:cNvPr id="21" name="TextBox 20"/>
          <p:cNvSpPr txBox="1"/>
          <p:nvPr/>
        </p:nvSpPr>
        <p:spPr>
          <a:xfrm>
            <a:off x="8183879" y="2907791"/>
            <a:ext cx="2880360" cy="320040"/>
          </a:xfrm>
          <a:prstGeom prst="rect">
            <a:avLst/>
          </a:prstGeom>
          <a:noFill/>
        </p:spPr>
        <p:txBody>
          <a:bodyPr wrap="square" anchor="t">
            <a:spAutoFit/>
          </a:bodyPr>
          <a:lstStyle/>
          <a:p>
            <a:pPr algn="l"/>
            <a:r>
              <a:rPr sz="1100" b="0" i="0">
                <a:solidFill>
                  <a:srgbClr val="6C7480"/>
                </a:solidFill>
                <a:latin typeface="Aptos"/>
              </a:rPr>
              <a:t>Cloud CRM, website development, automation support</a:t>
            </a:r>
          </a:p>
        </p:txBody>
      </p:sp>
      <p:sp>
        <p:nvSpPr>
          <p:cNvPr id="22" name="Rounded Rectangle 21"/>
          <p:cNvSpPr/>
          <p:nvPr/>
        </p:nvSpPr>
        <p:spPr>
          <a:xfrm>
            <a:off x="731520" y="3648456"/>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3648456"/>
            <a:ext cx="82296" cy="612648"/>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49040"/>
            <a:ext cx="1737360" cy="201168"/>
          </a:xfrm>
          <a:prstGeom prst="rect">
            <a:avLst/>
          </a:prstGeom>
          <a:noFill/>
        </p:spPr>
        <p:txBody>
          <a:bodyPr wrap="square" anchor="t">
            <a:spAutoFit/>
          </a:bodyPr>
          <a:lstStyle/>
          <a:p>
            <a:pPr algn="l"/>
            <a:r>
              <a:rPr sz="1300" b="1" i="0">
                <a:solidFill>
                  <a:srgbClr val="14181F"/>
                </a:solidFill>
                <a:latin typeface="Aptos"/>
              </a:rPr>
              <a:t>Marketing assets</a:t>
            </a:r>
          </a:p>
        </p:txBody>
      </p:sp>
      <p:sp>
        <p:nvSpPr>
          <p:cNvPr id="25" name="TextBox 24"/>
          <p:cNvSpPr txBox="1"/>
          <p:nvPr/>
        </p:nvSpPr>
        <p:spPr>
          <a:xfrm>
            <a:off x="2697480" y="3749040"/>
            <a:ext cx="2880360" cy="320040"/>
          </a:xfrm>
          <a:prstGeom prst="rect">
            <a:avLst/>
          </a:prstGeom>
          <a:noFill/>
        </p:spPr>
        <p:txBody>
          <a:bodyPr wrap="square" anchor="t">
            <a:spAutoFit/>
          </a:bodyPr>
          <a:lstStyle/>
          <a:p>
            <a:pPr algn="l"/>
            <a:r>
              <a:rPr sz="1100" b="0" i="0">
                <a:solidFill>
                  <a:srgbClr val="6C7480"/>
                </a:solidFill>
                <a:latin typeface="Aptos"/>
              </a:rPr>
              <a:t>Five video reels/month, content coordination, Meta Ads execution</a:t>
            </a:r>
          </a:p>
        </p:txBody>
      </p:sp>
      <p:sp>
        <p:nvSpPr>
          <p:cNvPr id="26" name="Rounded Rectangle 25"/>
          <p:cNvSpPr/>
          <p:nvPr/>
        </p:nvSpPr>
        <p:spPr>
          <a:xfrm>
            <a:off x="6217920" y="3648456"/>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648456"/>
            <a:ext cx="82296" cy="612648"/>
          </a:xfrm>
          <a:prstGeom prst="rect">
            <a:avLst/>
          </a:prstGeom>
          <a:solidFill>
            <a:srgbClr val="F6B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3749040"/>
            <a:ext cx="1737360" cy="201168"/>
          </a:xfrm>
          <a:prstGeom prst="rect">
            <a:avLst/>
          </a:prstGeom>
          <a:noFill/>
        </p:spPr>
        <p:txBody>
          <a:bodyPr wrap="square" anchor="t">
            <a:spAutoFit/>
          </a:bodyPr>
          <a:lstStyle/>
          <a:p>
            <a:pPr algn="l"/>
            <a:r>
              <a:rPr sz="1300" b="1" i="0">
                <a:solidFill>
                  <a:srgbClr val="14181F"/>
                </a:solidFill>
                <a:latin typeface="Aptos"/>
              </a:rPr>
              <a:t>Operations</a:t>
            </a:r>
          </a:p>
        </p:txBody>
      </p:sp>
      <p:sp>
        <p:nvSpPr>
          <p:cNvPr id="29" name="TextBox 28"/>
          <p:cNvSpPr txBox="1"/>
          <p:nvPr/>
        </p:nvSpPr>
        <p:spPr>
          <a:xfrm>
            <a:off x="8183879" y="3749040"/>
            <a:ext cx="2880360" cy="320040"/>
          </a:xfrm>
          <a:prstGeom prst="rect">
            <a:avLst/>
          </a:prstGeom>
          <a:noFill/>
        </p:spPr>
        <p:txBody>
          <a:bodyPr wrap="square" anchor="t">
            <a:spAutoFit/>
          </a:bodyPr>
          <a:lstStyle/>
          <a:p>
            <a:pPr algn="l"/>
            <a:r>
              <a:rPr sz="1100" b="0" i="0">
                <a:solidFill>
                  <a:srgbClr val="6C7480"/>
                </a:solidFill>
                <a:latin typeface="Aptos"/>
              </a:rPr>
              <a:t>SOP support, accounting coordination, process documentation</a:t>
            </a:r>
          </a:p>
        </p:txBody>
      </p:sp>
      <p:sp>
        <p:nvSpPr>
          <p:cNvPr id="30" name="Rounded Rectangle 29"/>
          <p:cNvSpPr/>
          <p:nvPr/>
        </p:nvSpPr>
        <p:spPr>
          <a:xfrm>
            <a:off x="731520" y="4489704"/>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4489704"/>
            <a:ext cx="82296" cy="612648"/>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4590288"/>
            <a:ext cx="1737360" cy="201168"/>
          </a:xfrm>
          <a:prstGeom prst="rect">
            <a:avLst/>
          </a:prstGeom>
          <a:noFill/>
        </p:spPr>
        <p:txBody>
          <a:bodyPr wrap="square" anchor="t">
            <a:spAutoFit/>
          </a:bodyPr>
          <a:lstStyle/>
          <a:p>
            <a:pPr algn="l"/>
            <a:r>
              <a:rPr sz="1300" b="1" i="0">
                <a:solidFill>
                  <a:srgbClr val="14181F"/>
                </a:solidFill>
                <a:latin typeface="Aptos"/>
              </a:rPr>
              <a:t>Talent access</a:t>
            </a:r>
          </a:p>
        </p:txBody>
      </p:sp>
      <p:sp>
        <p:nvSpPr>
          <p:cNvPr id="33" name="TextBox 32"/>
          <p:cNvSpPr txBox="1"/>
          <p:nvPr/>
        </p:nvSpPr>
        <p:spPr>
          <a:xfrm>
            <a:off x="2697480" y="4590288"/>
            <a:ext cx="2880360" cy="320040"/>
          </a:xfrm>
          <a:prstGeom prst="rect">
            <a:avLst/>
          </a:prstGeom>
          <a:noFill/>
        </p:spPr>
        <p:txBody>
          <a:bodyPr wrap="square" anchor="t">
            <a:spAutoFit/>
          </a:bodyPr>
          <a:lstStyle/>
          <a:p>
            <a:pPr algn="l"/>
            <a:r>
              <a:rPr sz="1100" b="0" i="0">
                <a:solidFill>
                  <a:srgbClr val="6C7480"/>
                </a:solidFill>
                <a:latin typeface="Aptos"/>
              </a:rPr>
              <a:t>Hiring assistance and access to a startup employee hiring portal</a:t>
            </a:r>
          </a:p>
        </p:txBody>
      </p:sp>
      <p:sp>
        <p:nvSpPr>
          <p:cNvPr id="34" name="Rounded Rectangle 33"/>
          <p:cNvSpPr/>
          <p:nvPr/>
        </p:nvSpPr>
        <p:spPr>
          <a:xfrm>
            <a:off x="6217920" y="4489704"/>
            <a:ext cx="5120640" cy="612648"/>
          </a:xfrm>
          <a:prstGeom prst="roundRect">
            <a:avLst/>
          </a:prstGeom>
          <a:solidFill>
            <a:srgbClr val="FFFFFF"/>
          </a:solidFill>
          <a:ln>
            <a:solidFill>
              <a:srgbClr val="E0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4489704"/>
            <a:ext cx="82296" cy="612648"/>
          </a:xfrm>
          <a:prstGeom prst="rect">
            <a:avLst/>
          </a:prstGeom>
          <a:solidFill>
            <a:srgbClr val="F6B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4590288"/>
            <a:ext cx="1737360" cy="201168"/>
          </a:xfrm>
          <a:prstGeom prst="rect">
            <a:avLst/>
          </a:prstGeom>
          <a:noFill/>
        </p:spPr>
        <p:txBody>
          <a:bodyPr wrap="square" anchor="t">
            <a:spAutoFit/>
          </a:bodyPr>
          <a:lstStyle/>
          <a:p>
            <a:pPr algn="l"/>
            <a:r>
              <a:rPr sz="1300" b="1" i="0">
                <a:solidFill>
                  <a:srgbClr val="14181F"/>
                </a:solidFill>
                <a:latin typeface="Aptos"/>
              </a:rPr>
              <a:t>Founder environment</a:t>
            </a:r>
          </a:p>
        </p:txBody>
      </p:sp>
      <p:sp>
        <p:nvSpPr>
          <p:cNvPr id="37" name="TextBox 36"/>
          <p:cNvSpPr txBox="1"/>
          <p:nvPr/>
        </p:nvSpPr>
        <p:spPr>
          <a:xfrm>
            <a:off x="8183879" y="4590288"/>
            <a:ext cx="2880360" cy="320040"/>
          </a:xfrm>
          <a:prstGeom prst="rect">
            <a:avLst/>
          </a:prstGeom>
          <a:noFill/>
        </p:spPr>
        <p:txBody>
          <a:bodyPr wrap="square" anchor="t">
            <a:spAutoFit/>
          </a:bodyPr>
          <a:lstStyle/>
          <a:p>
            <a:pPr algn="l"/>
            <a:r>
              <a:rPr sz="1100" b="0" i="0">
                <a:solidFill>
                  <a:srgbClr val="6C7480"/>
                </a:solidFill>
                <a:latin typeface="Aptos"/>
              </a:rPr>
              <a:t>Shared workspace, studio access, podcast space, founder community</a:t>
            </a:r>
          </a:p>
        </p:txBody>
      </p:sp>
      <p:sp>
        <p:nvSpPr>
          <p:cNvPr id="38" name="TextBox 37"/>
          <p:cNvSpPr txBox="1"/>
          <p:nvPr/>
        </p:nvSpPr>
        <p:spPr>
          <a:xfrm>
            <a:off x="731520" y="5852160"/>
            <a:ext cx="10698480" cy="274320"/>
          </a:xfrm>
          <a:prstGeom prst="rect">
            <a:avLst/>
          </a:prstGeom>
          <a:noFill/>
        </p:spPr>
        <p:txBody>
          <a:bodyPr wrap="square" anchor="t">
            <a:spAutoFit/>
          </a:bodyPr>
          <a:lstStyle/>
          <a:p>
            <a:pPr algn="ctr"/>
            <a:r>
              <a:rPr sz="1200" b="1" i="0">
                <a:solidFill>
                  <a:srgbClr val="004EF6"/>
                </a:solidFill>
                <a:latin typeface="Aptos"/>
              </a:rPr>
              <a:t>Defined scope. Clear boundaries. Additional execution available through separately quoted services.</a:t>
            </a:r>
          </a:p>
        </p:txBody>
      </p:sp>
      <p:cxnSp>
        <p:nvCxnSpPr>
          <p:cNvPr id="39" name="Connector 38"/>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41" name="TextBox 40"/>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THE INFRASTRUCTURE</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Built once. Shared across founders.</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Pitchvilla's advantage is the ability to distribute high-value resources across multiple businesses.</a:t>
            </a:r>
          </a:p>
        </p:txBody>
      </p:sp>
      <p:sp>
        <p:nvSpPr>
          <p:cNvPr id="6" name="Rounded Rectangle 5"/>
          <p:cNvSpPr/>
          <p:nvPr/>
        </p:nvSpPr>
        <p:spPr>
          <a:xfrm>
            <a:off x="4480560" y="2423160"/>
            <a:ext cx="3200400" cy="1188720"/>
          </a:xfrm>
          <a:prstGeom prst="roundRect">
            <a:avLst/>
          </a:prstGeom>
          <a:solidFill>
            <a:srgbClr val="14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2743200"/>
            <a:ext cx="2651760" cy="457200"/>
          </a:xfrm>
          <a:prstGeom prst="rect">
            <a:avLst/>
          </a:prstGeom>
          <a:noFill/>
        </p:spPr>
        <p:txBody>
          <a:bodyPr wrap="square" anchor="t">
            <a:spAutoFit/>
          </a:bodyPr>
          <a:lstStyle/>
          <a:p>
            <a:pPr algn="ctr"/>
            <a:r>
              <a:rPr sz="2000" b="1" i="0">
                <a:solidFill>
                  <a:srgbClr val="FFFFFF"/>
                </a:solidFill>
                <a:latin typeface="Aptos Display"/>
              </a:rPr>
              <a:t>PITCHVILLA
SHARED BACKBONE</a:t>
            </a:r>
          </a:p>
        </p:txBody>
      </p:sp>
      <p:sp>
        <p:nvSpPr>
          <p:cNvPr id="8" name="Rounded Rectangle 7"/>
          <p:cNvSpPr/>
          <p:nvPr/>
        </p:nvSpPr>
        <p:spPr>
          <a:xfrm>
            <a:off x="914400" y="1920240"/>
            <a:ext cx="2286000" cy="777240"/>
          </a:xfrm>
          <a:prstGeom prst="roundRect">
            <a:avLst/>
          </a:prstGeom>
          <a:solidFill>
            <a:srgbClr val="EBF1FF"/>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76272"/>
            <a:ext cx="2011680" cy="182880"/>
          </a:xfrm>
          <a:prstGeom prst="rect">
            <a:avLst/>
          </a:prstGeom>
          <a:noFill/>
        </p:spPr>
        <p:txBody>
          <a:bodyPr wrap="square" anchor="t">
            <a:spAutoFit/>
          </a:bodyPr>
          <a:lstStyle/>
          <a:p>
            <a:pPr algn="ctr"/>
            <a:r>
              <a:rPr sz="1300" b="1" i="0">
                <a:solidFill>
                  <a:srgbClr val="14181F"/>
                </a:solidFill>
                <a:latin typeface="Aptos"/>
              </a:rPr>
              <a:t>CRM &amp; Tech</a:t>
            </a:r>
          </a:p>
        </p:txBody>
      </p:sp>
      <p:cxnSp>
        <p:nvCxnSpPr>
          <p:cNvPr id="10" name="Connector 9"/>
          <p:cNvCxnSpPr/>
          <p:nvPr/>
        </p:nvCxnSpPr>
        <p:spPr>
          <a:xfrm>
            <a:off x="3200400" y="2304288"/>
            <a:ext cx="1280160" cy="713232"/>
          </a:xfrm>
          <a:prstGeom prst="line">
            <a:avLst/>
          </a:prstGeom>
          <a:ln w="19050">
            <a:solidFill>
              <a:srgbClr val="004EF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14400" y="4160520"/>
            <a:ext cx="2286000" cy="777240"/>
          </a:xfrm>
          <a:prstGeom prst="roundRect">
            <a:avLst/>
          </a:prstGeom>
          <a:solidFill>
            <a:srgbClr val="FFF8E2"/>
          </a:solidFill>
          <a:ln>
            <a:solidFill>
              <a:srgbClr val="F6B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16552"/>
            <a:ext cx="2011680" cy="182880"/>
          </a:xfrm>
          <a:prstGeom prst="rect">
            <a:avLst/>
          </a:prstGeom>
          <a:noFill/>
        </p:spPr>
        <p:txBody>
          <a:bodyPr wrap="square" anchor="t">
            <a:spAutoFit/>
          </a:bodyPr>
          <a:lstStyle/>
          <a:p>
            <a:pPr algn="ctr"/>
            <a:r>
              <a:rPr sz="1300" b="1" i="0">
                <a:solidFill>
                  <a:srgbClr val="14181F"/>
                </a:solidFill>
                <a:latin typeface="Aptos"/>
              </a:rPr>
              <a:t>Marketing Team</a:t>
            </a:r>
          </a:p>
        </p:txBody>
      </p:sp>
      <p:cxnSp>
        <p:nvCxnSpPr>
          <p:cNvPr id="13" name="Connector 12"/>
          <p:cNvCxnSpPr/>
          <p:nvPr/>
        </p:nvCxnSpPr>
        <p:spPr>
          <a:xfrm flipV="1">
            <a:off x="3200400" y="3017520"/>
            <a:ext cx="1280160" cy="1527048"/>
          </a:xfrm>
          <a:prstGeom prst="line">
            <a:avLst/>
          </a:prstGeom>
          <a:ln w="19050">
            <a:solidFill>
              <a:srgbClr val="F6BF3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778240" y="1920240"/>
            <a:ext cx="2286000" cy="777240"/>
          </a:xfrm>
          <a:prstGeom prst="roundRect">
            <a:avLst/>
          </a:prstGeom>
          <a:solidFill>
            <a:srgbClr val="E7F7EE"/>
          </a:solidFill>
          <a:ln>
            <a:solidFill>
              <a:srgbClr val="239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2176272"/>
            <a:ext cx="2011680" cy="182880"/>
          </a:xfrm>
          <a:prstGeom prst="rect">
            <a:avLst/>
          </a:prstGeom>
          <a:noFill/>
        </p:spPr>
        <p:txBody>
          <a:bodyPr wrap="square" anchor="t">
            <a:spAutoFit/>
          </a:bodyPr>
          <a:lstStyle/>
          <a:p>
            <a:pPr algn="ctr"/>
            <a:r>
              <a:rPr sz="1300" b="1" i="0">
                <a:solidFill>
                  <a:srgbClr val="14181F"/>
                </a:solidFill>
                <a:latin typeface="Aptos"/>
              </a:rPr>
              <a:t>Mentor Network</a:t>
            </a:r>
          </a:p>
        </p:txBody>
      </p:sp>
      <p:cxnSp>
        <p:nvCxnSpPr>
          <p:cNvPr id="16" name="Connector 15"/>
          <p:cNvCxnSpPr/>
          <p:nvPr/>
        </p:nvCxnSpPr>
        <p:spPr>
          <a:xfrm flipV="1">
            <a:off x="7680960" y="2304288"/>
            <a:ext cx="1097280" cy="713232"/>
          </a:xfrm>
          <a:prstGeom prst="line">
            <a:avLst/>
          </a:prstGeom>
          <a:ln w="19050">
            <a:solidFill>
              <a:srgbClr val="23916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778240" y="4160520"/>
            <a:ext cx="2286000" cy="777240"/>
          </a:xfrm>
          <a:prstGeom prst="roundRect">
            <a:avLst/>
          </a:prstGeom>
          <a:solidFill>
            <a:srgbClr val="EBF1FF"/>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4416552"/>
            <a:ext cx="2011680" cy="182880"/>
          </a:xfrm>
          <a:prstGeom prst="rect">
            <a:avLst/>
          </a:prstGeom>
          <a:noFill/>
        </p:spPr>
        <p:txBody>
          <a:bodyPr wrap="square" anchor="t">
            <a:spAutoFit/>
          </a:bodyPr>
          <a:lstStyle/>
          <a:p>
            <a:pPr algn="ctr"/>
            <a:r>
              <a:rPr sz="1300" b="1" i="0">
                <a:solidFill>
                  <a:srgbClr val="14181F"/>
                </a:solidFill>
                <a:latin typeface="Aptos"/>
              </a:rPr>
              <a:t>Studio &amp; Workspace</a:t>
            </a:r>
          </a:p>
        </p:txBody>
      </p:sp>
      <p:cxnSp>
        <p:nvCxnSpPr>
          <p:cNvPr id="19" name="Connector 18"/>
          <p:cNvCxnSpPr/>
          <p:nvPr/>
        </p:nvCxnSpPr>
        <p:spPr>
          <a:xfrm>
            <a:off x="7680960" y="3017520"/>
            <a:ext cx="1097280" cy="1527048"/>
          </a:xfrm>
          <a:prstGeom prst="line">
            <a:avLst/>
          </a:prstGeom>
          <a:ln w="19050">
            <a:solidFill>
              <a:srgbClr val="004EF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97280" y="5715000"/>
            <a:ext cx="10058400" cy="320040"/>
          </a:xfrm>
          <a:prstGeom prst="rect">
            <a:avLst/>
          </a:prstGeom>
          <a:noFill/>
        </p:spPr>
        <p:txBody>
          <a:bodyPr wrap="square" anchor="t">
            <a:spAutoFit/>
          </a:bodyPr>
          <a:lstStyle/>
          <a:p>
            <a:pPr algn="ctr"/>
            <a:r>
              <a:rPr sz="1600" b="1" i="0">
                <a:solidFill>
                  <a:srgbClr val="004EF6"/>
                </a:solidFill>
                <a:latin typeface="Aptos Display"/>
              </a:rPr>
              <a:t>One platform can support many founders without rebuilding every capability from scratch.</a:t>
            </a:r>
          </a:p>
        </p:txBody>
      </p:sp>
      <p:cxnSp>
        <p:nvCxnSpPr>
          <p:cNvPr id="21" name="Connector 20"/>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23" name="TextBox 22"/>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THE COMMITMENT</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A standardized six-month founder program.</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Simple pricing keeps the experience structured and makes delivery easier to manage.</a:t>
            </a:r>
          </a:p>
        </p:txBody>
      </p:sp>
      <p:sp>
        <p:nvSpPr>
          <p:cNvPr id="6" name="Rounded Rectangle 5"/>
          <p:cNvSpPr/>
          <p:nvPr/>
        </p:nvSpPr>
        <p:spPr>
          <a:xfrm>
            <a:off x="822960" y="2148840"/>
            <a:ext cx="3063240" cy="1508760"/>
          </a:xfrm>
          <a:prstGeom prst="roundRect">
            <a:avLst/>
          </a:prstGeom>
          <a:solidFill>
            <a:srgbClr val="FFFFFF"/>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487168"/>
            <a:ext cx="2606040" cy="365760"/>
          </a:xfrm>
          <a:prstGeom prst="rect">
            <a:avLst/>
          </a:prstGeom>
          <a:noFill/>
        </p:spPr>
        <p:txBody>
          <a:bodyPr wrap="square" anchor="t">
            <a:spAutoFit/>
          </a:bodyPr>
          <a:lstStyle/>
          <a:p>
            <a:pPr algn="ctr"/>
            <a:r>
              <a:rPr sz="2500" b="1" i="0">
                <a:solidFill>
                  <a:srgbClr val="14181F"/>
                </a:solidFill>
                <a:latin typeface="Aptos Display"/>
              </a:rPr>
              <a:t>₹1.50 LAKH</a:t>
            </a:r>
          </a:p>
        </p:txBody>
      </p:sp>
      <p:sp>
        <p:nvSpPr>
          <p:cNvPr id="8" name="TextBox 7"/>
          <p:cNvSpPr txBox="1"/>
          <p:nvPr/>
        </p:nvSpPr>
        <p:spPr>
          <a:xfrm>
            <a:off x="1051560" y="3063240"/>
            <a:ext cx="2606040" cy="228600"/>
          </a:xfrm>
          <a:prstGeom prst="rect">
            <a:avLst/>
          </a:prstGeom>
          <a:noFill/>
        </p:spPr>
        <p:txBody>
          <a:bodyPr wrap="square" anchor="t">
            <a:spAutoFit/>
          </a:bodyPr>
          <a:lstStyle/>
          <a:p>
            <a:pPr algn="ctr"/>
            <a:r>
              <a:rPr sz="1100" b="1" i="0">
                <a:solidFill>
                  <a:srgbClr val="6C7480"/>
                </a:solidFill>
                <a:latin typeface="Aptos"/>
              </a:rPr>
              <a:t>One-time admission fee</a:t>
            </a:r>
          </a:p>
        </p:txBody>
      </p:sp>
      <p:sp>
        <p:nvSpPr>
          <p:cNvPr id="9" name="Rounded Rectangle 8"/>
          <p:cNvSpPr/>
          <p:nvPr/>
        </p:nvSpPr>
        <p:spPr>
          <a:xfrm>
            <a:off x="4343400" y="2148840"/>
            <a:ext cx="3063240" cy="1508760"/>
          </a:xfrm>
          <a:prstGeom prst="roundRect">
            <a:avLst/>
          </a:prstGeom>
          <a:solidFill>
            <a:srgbClr val="FFFFFF"/>
          </a:solidFill>
          <a:ln>
            <a:solidFill>
              <a:srgbClr val="F6B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487168"/>
            <a:ext cx="2606040" cy="365760"/>
          </a:xfrm>
          <a:prstGeom prst="rect">
            <a:avLst/>
          </a:prstGeom>
          <a:noFill/>
        </p:spPr>
        <p:txBody>
          <a:bodyPr wrap="square" anchor="t">
            <a:spAutoFit/>
          </a:bodyPr>
          <a:lstStyle/>
          <a:p>
            <a:pPr algn="ctr"/>
            <a:r>
              <a:rPr sz="2500" b="1" i="0">
                <a:solidFill>
                  <a:srgbClr val="14181F"/>
                </a:solidFill>
                <a:latin typeface="Aptos Display"/>
              </a:rPr>
              <a:t>₹20,000</a:t>
            </a:r>
          </a:p>
        </p:txBody>
      </p:sp>
      <p:sp>
        <p:nvSpPr>
          <p:cNvPr id="11" name="TextBox 10"/>
          <p:cNvSpPr txBox="1"/>
          <p:nvPr/>
        </p:nvSpPr>
        <p:spPr>
          <a:xfrm>
            <a:off x="4572000" y="3063240"/>
            <a:ext cx="2606040" cy="228600"/>
          </a:xfrm>
          <a:prstGeom prst="rect">
            <a:avLst/>
          </a:prstGeom>
          <a:noFill/>
        </p:spPr>
        <p:txBody>
          <a:bodyPr wrap="square" anchor="t">
            <a:spAutoFit/>
          </a:bodyPr>
          <a:lstStyle/>
          <a:p>
            <a:pPr algn="ctr"/>
            <a:r>
              <a:rPr sz="1100" b="1" i="0">
                <a:solidFill>
                  <a:srgbClr val="6C7480"/>
                </a:solidFill>
                <a:latin typeface="Aptos"/>
              </a:rPr>
              <a:t>Monthly growth infrastructure fee</a:t>
            </a:r>
          </a:p>
        </p:txBody>
      </p:sp>
      <p:sp>
        <p:nvSpPr>
          <p:cNvPr id="12" name="Rounded Rectangle 11"/>
          <p:cNvSpPr/>
          <p:nvPr/>
        </p:nvSpPr>
        <p:spPr>
          <a:xfrm>
            <a:off x="7863840" y="2148840"/>
            <a:ext cx="3063240" cy="1508760"/>
          </a:xfrm>
          <a:prstGeom prst="roundRect">
            <a:avLst/>
          </a:prstGeom>
          <a:solidFill>
            <a:srgbClr val="FFFFFF"/>
          </a:solidFill>
          <a:ln>
            <a:solidFill>
              <a:srgbClr val="239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487168"/>
            <a:ext cx="2606040" cy="365760"/>
          </a:xfrm>
          <a:prstGeom prst="rect">
            <a:avLst/>
          </a:prstGeom>
          <a:noFill/>
        </p:spPr>
        <p:txBody>
          <a:bodyPr wrap="square" anchor="t">
            <a:spAutoFit/>
          </a:bodyPr>
          <a:lstStyle/>
          <a:p>
            <a:pPr algn="ctr"/>
            <a:r>
              <a:rPr sz="2500" b="1" i="0">
                <a:solidFill>
                  <a:srgbClr val="14181F"/>
                </a:solidFill>
                <a:latin typeface="Aptos Display"/>
              </a:rPr>
              <a:t>₹2.70 LAKH</a:t>
            </a:r>
          </a:p>
        </p:txBody>
      </p:sp>
      <p:sp>
        <p:nvSpPr>
          <p:cNvPr id="14" name="TextBox 13"/>
          <p:cNvSpPr txBox="1"/>
          <p:nvPr/>
        </p:nvSpPr>
        <p:spPr>
          <a:xfrm>
            <a:off x="8092440" y="3063240"/>
            <a:ext cx="2606040" cy="228600"/>
          </a:xfrm>
          <a:prstGeom prst="rect">
            <a:avLst/>
          </a:prstGeom>
          <a:noFill/>
        </p:spPr>
        <p:txBody>
          <a:bodyPr wrap="square" anchor="t">
            <a:spAutoFit/>
          </a:bodyPr>
          <a:lstStyle/>
          <a:p>
            <a:pPr algn="ctr"/>
            <a:r>
              <a:rPr sz="1100" b="1" i="0">
                <a:solidFill>
                  <a:srgbClr val="6C7480"/>
                </a:solidFill>
                <a:latin typeface="Aptos"/>
              </a:rPr>
              <a:t>Total six-month commitment</a:t>
            </a:r>
          </a:p>
        </p:txBody>
      </p:sp>
      <p:sp>
        <p:nvSpPr>
          <p:cNvPr id="15" name="Rounded Rectangle 14"/>
          <p:cNvSpPr/>
          <p:nvPr/>
        </p:nvSpPr>
        <p:spPr>
          <a:xfrm>
            <a:off x="1051560" y="4343400"/>
            <a:ext cx="10058400" cy="914400"/>
          </a:xfrm>
          <a:prstGeom prst="roundRect">
            <a:avLst/>
          </a:prstGeom>
          <a:solidFill>
            <a:srgbClr val="EB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4645152"/>
            <a:ext cx="9509760" cy="256032"/>
          </a:xfrm>
          <a:prstGeom prst="rect">
            <a:avLst/>
          </a:prstGeom>
          <a:noFill/>
        </p:spPr>
        <p:txBody>
          <a:bodyPr wrap="square" anchor="t">
            <a:spAutoFit/>
          </a:bodyPr>
          <a:lstStyle/>
          <a:p>
            <a:pPr algn="ctr"/>
            <a:r>
              <a:rPr sz="1700" b="1" i="0">
                <a:solidFill>
                  <a:srgbClr val="004EF6"/>
                </a:solidFill>
                <a:latin typeface="Aptos"/>
              </a:rPr>
              <a:t>The program is designed around a common operating format for all selected founders.</a:t>
            </a:r>
          </a:p>
        </p:txBody>
      </p:sp>
      <p:sp>
        <p:nvSpPr>
          <p:cNvPr id="17" name="TextBox 16"/>
          <p:cNvSpPr txBox="1"/>
          <p:nvPr/>
        </p:nvSpPr>
        <p:spPr>
          <a:xfrm>
            <a:off x="914400" y="5715000"/>
            <a:ext cx="10332720" cy="228600"/>
          </a:xfrm>
          <a:prstGeom prst="rect">
            <a:avLst/>
          </a:prstGeom>
          <a:noFill/>
        </p:spPr>
        <p:txBody>
          <a:bodyPr wrap="square" anchor="t">
            <a:spAutoFit/>
          </a:bodyPr>
          <a:lstStyle/>
          <a:p>
            <a:pPr algn="ctr"/>
            <a:r>
              <a:rPr sz="1100" b="0" i="0">
                <a:solidFill>
                  <a:srgbClr val="6C7480"/>
                </a:solidFill>
                <a:latin typeface="Aptos"/>
              </a:rPr>
              <a:t>Excludes GST, optional Goa immersion, and additional execution services.</a:t>
            </a:r>
          </a:p>
        </p:txBody>
      </p:sp>
      <p:cxnSp>
        <p:nvCxnSpPr>
          <p:cNvPr id="18" name="Connector 17"/>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20" name="TextBox 19"/>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THE FIRST COHORT</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30 founders. One shared environment. Six months of focused progress.</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Aarambh is the first expression of the Pitchvilla Startup School vision.</a:t>
            </a:r>
          </a:p>
        </p:txBody>
      </p:sp>
      <p:sp>
        <p:nvSpPr>
          <p:cNvPr id="6" name="Rounded Rectangle 5"/>
          <p:cNvSpPr/>
          <p:nvPr/>
        </p:nvSpPr>
        <p:spPr>
          <a:xfrm>
            <a:off x="822960" y="2011680"/>
            <a:ext cx="3200400" cy="3200400"/>
          </a:xfrm>
          <a:prstGeom prst="roundRect">
            <a:avLst/>
          </a:prstGeom>
          <a:solidFill>
            <a:srgbClr val="14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560320"/>
            <a:ext cx="2560320" cy="777240"/>
          </a:xfrm>
          <a:prstGeom prst="rect">
            <a:avLst/>
          </a:prstGeom>
          <a:noFill/>
        </p:spPr>
        <p:txBody>
          <a:bodyPr wrap="square" anchor="t">
            <a:spAutoFit/>
          </a:bodyPr>
          <a:lstStyle/>
          <a:p>
            <a:pPr algn="ctr"/>
            <a:r>
              <a:rPr sz="5500" b="1" i="0">
                <a:solidFill>
                  <a:srgbClr val="F6BF35"/>
                </a:solidFill>
                <a:latin typeface="Aptos Display"/>
              </a:rPr>
              <a:t>30</a:t>
            </a:r>
          </a:p>
        </p:txBody>
      </p:sp>
      <p:sp>
        <p:nvSpPr>
          <p:cNvPr id="8" name="TextBox 7"/>
          <p:cNvSpPr txBox="1"/>
          <p:nvPr/>
        </p:nvSpPr>
        <p:spPr>
          <a:xfrm>
            <a:off x="1143000" y="3474720"/>
            <a:ext cx="2560320" cy="274320"/>
          </a:xfrm>
          <a:prstGeom prst="rect">
            <a:avLst/>
          </a:prstGeom>
          <a:noFill/>
        </p:spPr>
        <p:txBody>
          <a:bodyPr wrap="square" anchor="t">
            <a:spAutoFit/>
          </a:bodyPr>
          <a:lstStyle/>
          <a:p>
            <a:pPr algn="ctr"/>
            <a:r>
              <a:rPr sz="1500" b="1" i="0">
                <a:solidFill>
                  <a:srgbClr val="FFFFFF"/>
                </a:solidFill>
                <a:latin typeface="Aptos"/>
              </a:rPr>
              <a:t>FOUNDERS</a:t>
            </a:r>
          </a:p>
        </p:txBody>
      </p:sp>
      <p:sp>
        <p:nvSpPr>
          <p:cNvPr id="9" name="TextBox 8"/>
          <p:cNvSpPr txBox="1"/>
          <p:nvPr/>
        </p:nvSpPr>
        <p:spPr>
          <a:xfrm>
            <a:off x="1143000" y="4160520"/>
            <a:ext cx="2560320" cy="594360"/>
          </a:xfrm>
          <a:prstGeom prst="rect">
            <a:avLst/>
          </a:prstGeom>
          <a:noFill/>
        </p:spPr>
        <p:txBody>
          <a:bodyPr wrap="square" anchor="t">
            <a:spAutoFit/>
          </a:bodyPr>
          <a:lstStyle/>
          <a:p>
            <a:pPr algn="ctr"/>
            <a:r>
              <a:rPr sz="1300" b="0" i="0">
                <a:solidFill>
                  <a:srgbClr val="DCE1E8"/>
                </a:solidFill>
                <a:latin typeface="Aptos"/>
              </a:rPr>
              <a:t>Selected for commercial potential,
commitment, and readiness to execute.</a:t>
            </a:r>
          </a:p>
        </p:txBody>
      </p:sp>
      <p:sp>
        <p:nvSpPr>
          <p:cNvPr id="10" name="TextBox 9"/>
          <p:cNvSpPr txBox="1"/>
          <p:nvPr/>
        </p:nvSpPr>
        <p:spPr>
          <a:xfrm>
            <a:off x="4800600" y="2103120"/>
            <a:ext cx="2103120" cy="210312"/>
          </a:xfrm>
          <a:prstGeom prst="rect">
            <a:avLst/>
          </a:prstGeom>
          <a:noFill/>
        </p:spPr>
        <p:txBody>
          <a:bodyPr wrap="square" anchor="t">
            <a:spAutoFit/>
          </a:bodyPr>
          <a:lstStyle/>
          <a:p>
            <a:pPr algn="l"/>
            <a:r>
              <a:rPr sz="1300" b="1" i="0">
                <a:solidFill>
                  <a:srgbClr val="004EF6"/>
                </a:solidFill>
                <a:latin typeface="Aptos"/>
              </a:rPr>
              <a:t>NOV 2026</a:t>
            </a:r>
          </a:p>
        </p:txBody>
      </p:sp>
      <p:sp>
        <p:nvSpPr>
          <p:cNvPr id="11" name="TextBox 10"/>
          <p:cNvSpPr txBox="1"/>
          <p:nvPr/>
        </p:nvSpPr>
        <p:spPr>
          <a:xfrm>
            <a:off x="7040880" y="2103120"/>
            <a:ext cx="3474720" cy="210312"/>
          </a:xfrm>
          <a:prstGeom prst="rect">
            <a:avLst/>
          </a:prstGeom>
          <a:noFill/>
        </p:spPr>
        <p:txBody>
          <a:bodyPr wrap="square" anchor="t">
            <a:spAutoFit/>
          </a:bodyPr>
          <a:lstStyle/>
          <a:p>
            <a:pPr algn="l"/>
            <a:r>
              <a:rPr sz="1300" b="0" i="0">
                <a:solidFill>
                  <a:srgbClr val="30363F"/>
                </a:solidFill>
                <a:latin typeface="Aptos"/>
              </a:rPr>
              <a:t>Cohort begins</a:t>
            </a:r>
          </a:p>
        </p:txBody>
      </p:sp>
      <p:cxnSp>
        <p:nvCxnSpPr>
          <p:cNvPr id="12" name="Connector 11"/>
          <p:cNvCxnSpPr/>
          <p:nvPr/>
        </p:nvCxnSpPr>
        <p:spPr>
          <a:xfrm>
            <a:off x="4800600" y="2542032"/>
            <a:ext cx="5806440"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00600" y="2880360"/>
            <a:ext cx="2103120" cy="210312"/>
          </a:xfrm>
          <a:prstGeom prst="rect">
            <a:avLst/>
          </a:prstGeom>
          <a:noFill/>
        </p:spPr>
        <p:txBody>
          <a:bodyPr wrap="square" anchor="t">
            <a:spAutoFit/>
          </a:bodyPr>
          <a:lstStyle/>
          <a:p>
            <a:pPr algn="l"/>
            <a:r>
              <a:rPr sz="1300" b="1" i="0">
                <a:solidFill>
                  <a:srgbClr val="004EF6"/>
                </a:solidFill>
                <a:latin typeface="Aptos"/>
              </a:rPr>
              <a:t>APR 2027</a:t>
            </a:r>
          </a:p>
        </p:txBody>
      </p:sp>
      <p:sp>
        <p:nvSpPr>
          <p:cNvPr id="14" name="TextBox 13"/>
          <p:cNvSpPr txBox="1"/>
          <p:nvPr/>
        </p:nvSpPr>
        <p:spPr>
          <a:xfrm>
            <a:off x="7040880" y="2880360"/>
            <a:ext cx="3474720" cy="210312"/>
          </a:xfrm>
          <a:prstGeom prst="rect">
            <a:avLst/>
          </a:prstGeom>
          <a:noFill/>
        </p:spPr>
        <p:txBody>
          <a:bodyPr wrap="square" anchor="t">
            <a:spAutoFit/>
          </a:bodyPr>
          <a:lstStyle/>
          <a:p>
            <a:pPr algn="l"/>
            <a:r>
              <a:rPr sz="1300" b="0" i="0">
                <a:solidFill>
                  <a:srgbClr val="30363F"/>
                </a:solidFill>
                <a:latin typeface="Aptos"/>
              </a:rPr>
              <a:t>Six-month cycle concludes</a:t>
            </a:r>
          </a:p>
        </p:txBody>
      </p:sp>
      <p:cxnSp>
        <p:nvCxnSpPr>
          <p:cNvPr id="15" name="Connector 14"/>
          <p:cNvCxnSpPr/>
          <p:nvPr/>
        </p:nvCxnSpPr>
        <p:spPr>
          <a:xfrm>
            <a:off x="4800600" y="3319272"/>
            <a:ext cx="5806440"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00600" y="3657600"/>
            <a:ext cx="2103120" cy="210312"/>
          </a:xfrm>
          <a:prstGeom prst="rect">
            <a:avLst/>
          </a:prstGeom>
          <a:noFill/>
        </p:spPr>
        <p:txBody>
          <a:bodyPr wrap="square" anchor="t">
            <a:spAutoFit/>
          </a:bodyPr>
          <a:lstStyle/>
          <a:p>
            <a:pPr algn="l"/>
            <a:r>
              <a:rPr sz="1300" b="1" i="0">
                <a:solidFill>
                  <a:srgbClr val="004EF6"/>
                </a:solidFill>
                <a:latin typeface="Aptos"/>
              </a:rPr>
              <a:t>AHMEDABAD</a:t>
            </a:r>
          </a:p>
        </p:txBody>
      </p:sp>
      <p:sp>
        <p:nvSpPr>
          <p:cNvPr id="17" name="TextBox 16"/>
          <p:cNvSpPr txBox="1"/>
          <p:nvPr/>
        </p:nvSpPr>
        <p:spPr>
          <a:xfrm>
            <a:off x="7040880" y="3657600"/>
            <a:ext cx="3474720" cy="210312"/>
          </a:xfrm>
          <a:prstGeom prst="rect">
            <a:avLst/>
          </a:prstGeom>
          <a:noFill/>
        </p:spPr>
        <p:txBody>
          <a:bodyPr wrap="square" anchor="t">
            <a:spAutoFit/>
          </a:bodyPr>
          <a:lstStyle/>
          <a:p>
            <a:pPr algn="l"/>
            <a:r>
              <a:rPr sz="1300" b="0" i="0">
                <a:solidFill>
                  <a:srgbClr val="30363F"/>
                </a:solidFill>
                <a:latin typeface="Aptos"/>
              </a:rPr>
              <a:t>Primary operating location</a:t>
            </a:r>
          </a:p>
        </p:txBody>
      </p:sp>
      <p:cxnSp>
        <p:nvCxnSpPr>
          <p:cNvPr id="18" name="Connector 17"/>
          <p:cNvCxnSpPr/>
          <p:nvPr/>
        </p:nvCxnSpPr>
        <p:spPr>
          <a:xfrm>
            <a:off x="4800600" y="4096512"/>
            <a:ext cx="5806440"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00600" y="4434840"/>
            <a:ext cx="2103120" cy="210312"/>
          </a:xfrm>
          <a:prstGeom prst="rect">
            <a:avLst/>
          </a:prstGeom>
          <a:noFill/>
        </p:spPr>
        <p:txBody>
          <a:bodyPr wrap="square" anchor="t">
            <a:spAutoFit/>
          </a:bodyPr>
          <a:lstStyle/>
          <a:p>
            <a:pPr algn="l"/>
            <a:r>
              <a:rPr sz="1300" b="1" i="0">
                <a:solidFill>
                  <a:srgbClr val="004EF6"/>
                </a:solidFill>
                <a:latin typeface="Aptos"/>
              </a:rPr>
              <a:t>LEAN FIRST</a:t>
            </a:r>
          </a:p>
        </p:txBody>
      </p:sp>
      <p:sp>
        <p:nvSpPr>
          <p:cNvPr id="20" name="TextBox 19"/>
          <p:cNvSpPr txBox="1"/>
          <p:nvPr/>
        </p:nvSpPr>
        <p:spPr>
          <a:xfrm>
            <a:off x="7040880" y="4434840"/>
            <a:ext cx="3474720" cy="210312"/>
          </a:xfrm>
          <a:prstGeom prst="rect">
            <a:avLst/>
          </a:prstGeom>
          <a:noFill/>
        </p:spPr>
        <p:txBody>
          <a:bodyPr wrap="square" anchor="t">
            <a:spAutoFit/>
          </a:bodyPr>
          <a:lstStyle/>
          <a:p>
            <a:pPr algn="l"/>
            <a:r>
              <a:rPr sz="1300" b="0" i="0">
                <a:solidFill>
                  <a:srgbClr val="30363F"/>
                </a:solidFill>
                <a:latin typeface="Aptos"/>
              </a:rPr>
              <a:t>Infrastructure scales after validation</a:t>
            </a:r>
          </a:p>
        </p:txBody>
      </p:sp>
      <p:cxnSp>
        <p:nvCxnSpPr>
          <p:cNvPr id="21" name="Connector 20"/>
          <p:cNvCxnSpPr/>
          <p:nvPr/>
        </p:nvCxnSpPr>
        <p:spPr>
          <a:xfrm>
            <a:off x="4800600" y="4873752"/>
            <a:ext cx="5806440"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24" name="TextBox 23"/>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HOW WE BEGIN</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Validate demand before building heavy infrastructure.</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Pitchvilla will begin lean, prove the model, and expand with evidence.</a:t>
            </a:r>
          </a:p>
        </p:txBody>
      </p:sp>
      <p:sp>
        <p:nvSpPr>
          <p:cNvPr id="6" name="Rounded Rectangle 5"/>
          <p:cNvSpPr/>
          <p:nvPr/>
        </p:nvSpPr>
        <p:spPr>
          <a:xfrm>
            <a:off x="822960" y="2011680"/>
            <a:ext cx="594360" cy="475488"/>
          </a:xfrm>
          <a:prstGeom prst="round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39696"/>
            <a:ext cx="594360" cy="182880"/>
          </a:xfrm>
          <a:prstGeom prst="rect">
            <a:avLst/>
          </a:prstGeom>
          <a:noFill/>
        </p:spPr>
        <p:txBody>
          <a:bodyPr wrap="square" anchor="t">
            <a:spAutoFit/>
          </a:bodyPr>
          <a:lstStyle/>
          <a:p>
            <a:pPr algn="ctr"/>
            <a:r>
              <a:rPr sz="1400" b="1" i="0">
                <a:solidFill>
                  <a:srgbClr val="FFFFFF"/>
                </a:solidFill>
                <a:latin typeface="Aptos"/>
              </a:rPr>
              <a:t>01</a:t>
            </a:r>
          </a:p>
        </p:txBody>
      </p:sp>
      <p:sp>
        <p:nvSpPr>
          <p:cNvPr id="8" name="TextBox 7"/>
          <p:cNvSpPr txBox="1"/>
          <p:nvPr/>
        </p:nvSpPr>
        <p:spPr>
          <a:xfrm>
            <a:off x="1737360" y="2084832"/>
            <a:ext cx="2560320" cy="219456"/>
          </a:xfrm>
          <a:prstGeom prst="rect">
            <a:avLst/>
          </a:prstGeom>
          <a:noFill/>
        </p:spPr>
        <p:txBody>
          <a:bodyPr wrap="square" anchor="t">
            <a:spAutoFit/>
          </a:bodyPr>
          <a:lstStyle/>
          <a:p>
            <a:pPr algn="l"/>
            <a:r>
              <a:rPr sz="1600" b="1" i="0">
                <a:solidFill>
                  <a:srgbClr val="14181F"/>
                </a:solidFill>
                <a:latin typeface="Aptos"/>
              </a:rPr>
              <a:t>Fill the cohort</a:t>
            </a:r>
          </a:p>
        </p:txBody>
      </p:sp>
      <p:sp>
        <p:nvSpPr>
          <p:cNvPr id="9" name="TextBox 8"/>
          <p:cNvSpPr txBox="1"/>
          <p:nvPr/>
        </p:nvSpPr>
        <p:spPr>
          <a:xfrm>
            <a:off x="4343400" y="2084832"/>
            <a:ext cx="6126480" cy="274320"/>
          </a:xfrm>
          <a:prstGeom prst="rect">
            <a:avLst/>
          </a:prstGeom>
          <a:noFill/>
        </p:spPr>
        <p:txBody>
          <a:bodyPr wrap="square" anchor="t">
            <a:spAutoFit/>
          </a:bodyPr>
          <a:lstStyle/>
          <a:p>
            <a:pPr algn="l"/>
            <a:r>
              <a:rPr sz="1400" b="0" i="0">
                <a:solidFill>
                  <a:srgbClr val="6C7480"/>
                </a:solidFill>
                <a:latin typeface="Aptos"/>
              </a:rPr>
              <a:t>Select and onboard 30 paid founders.</a:t>
            </a:r>
          </a:p>
        </p:txBody>
      </p:sp>
      <p:cxnSp>
        <p:nvCxnSpPr>
          <p:cNvPr id="10" name="Connector 9"/>
          <p:cNvCxnSpPr/>
          <p:nvPr/>
        </p:nvCxnSpPr>
        <p:spPr>
          <a:xfrm>
            <a:off x="1115568" y="2487168"/>
            <a:ext cx="0" cy="365760"/>
          </a:xfrm>
          <a:prstGeom prst="line">
            <a:avLst/>
          </a:prstGeom>
          <a:ln w="19050">
            <a:solidFill>
              <a:srgbClr val="004EF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2852928"/>
            <a:ext cx="594360" cy="475488"/>
          </a:xfrm>
          <a:prstGeom prst="round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980944"/>
            <a:ext cx="594360" cy="182880"/>
          </a:xfrm>
          <a:prstGeom prst="rect">
            <a:avLst/>
          </a:prstGeom>
          <a:noFill/>
        </p:spPr>
        <p:txBody>
          <a:bodyPr wrap="square" anchor="t">
            <a:spAutoFit/>
          </a:bodyPr>
          <a:lstStyle/>
          <a:p>
            <a:pPr algn="ctr"/>
            <a:r>
              <a:rPr sz="1400" b="1" i="0">
                <a:solidFill>
                  <a:srgbClr val="FFFFFF"/>
                </a:solidFill>
                <a:latin typeface="Aptos"/>
              </a:rPr>
              <a:t>02</a:t>
            </a:r>
          </a:p>
        </p:txBody>
      </p:sp>
      <p:sp>
        <p:nvSpPr>
          <p:cNvPr id="13" name="TextBox 12"/>
          <p:cNvSpPr txBox="1"/>
          <p:nvPr/>
        </p:nvSpPr>
        <p:spPr>
          <a:xfrm>
            <a:off x="1737360" y="2926080"/>
            <a:ext cx="2560320" cy="219456"/>
          </a:xfrm>
          <a:prstGeom prst="rect">
            <a:avLst/>
          </a:prstGeom>
          <a:noFill/>
        </p:spPr>
        <p:txBody>
          <a:bodyPr wrap="square" anchor="t">
            <a:spAutoFit/>
          </a:bodyPr>
          <a:lstStyle/>
          <a:p>
            <a:pPr algn="l"/>
            <a:r>
              <a:rPr sz="1600" b="1" i="0">
                <a:solidFill>
                  <a:srgbClr val="14181F"/>
                </a:solidFill>
                <a:latin typeface="Aptos"/>
              </a:rPr>
              <a:t>Operate lean</a:t>
            </a:r>
          </a:p>
        </p:txBody>
      </p:sp>
      <p:sp>
        <p:nvSpPr>
          <p:cNvPr id="14" name="TextBox 13"/>
          <p:cNvSpPr txBox="1"/>
          <p:nvPr/>
        </p:nvSpPr>
        <p:spPr>
          <a:xfrm>
            <a:off x="4343400" y="2926080"/>
            <a:ext cx="6126480" cy="274320"/>
          </a:xfrm>
          <a:prstGeom prst="rect">
            <a:avLst/>
          </a:prstGeom>
          <a:noFill/>
        </p:spPr>
        <p:txBody>
          <a:bodyPr wrap="square" anchor="t">
            <a:spAutoFit/>
          </a:bodyPr>
          <a:lstStyle/>
          <a:p>
            <a:pPr algn="l"/>
            <a:r>
              <a:rPr sz="1400" b="0" i="0">
                <a:solidFill>
                  <a:srgbClr val="6C7480"/>
                </a:solidFill>
                <a:latin typeface="Aptos"/>
              </a:rPr>
              <a:t>Use temporary workspace, freelancers, and partner agencies where appropriate.</a:t>
            </a:r>
          </a:p>
        </p:txBody>
      </p:sp>
      <p:cxnSp>
        <p:nvCxnSpPr>
          <p:cNvPr id="15" name="Connector 14"/>
          <p:cNvCxnSpPr/>
          <p:nvPr/>
        </p:nvCxnSpPr>
        <p:spPr>
          <a:xfrm>
            <a:off x="1115568" y="3328416"/>
            <a:ext cx="0" cy="365760"/>
          </a:xfrm>
          <a:prstGeom prst="line">
            <a:avLst/>
          </a:prstGeom>
          <a:ln w="19050">
            <a:solidFill>
              <a:srgbClr val="004EF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22960" y="3694176"/>
            <a:ext cx="594360" cy="475488"/>
          </a:xfrm>
          <a:prstGeom prst="round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22191"/>
            <a:ext cx="594360" cy="182880"/>
          </a:xfrm>
          <a:prstGeom prst="rect">
            <a:avLst/>
          </a:prstGeom>
          <a:noFill/>
        </p:spPr>
        <p:txBody>
          <a:bodyPr wrap="square" anchor="t">
            <a:spAutoFit/>
          </a:bodyPr>
          <a:lstStyle/>
          <a:p>
            <a:pPr algn="ctr"/>
            <a:r>
              <a:rPr sz="1400" b="1" i="0">
                <a:solidFill>
                  <a:srgbClr val="FFFFFF"/>
                </a:solidFill>
                <a:latin typeface="Aptos"/>
              </a:rPr>
              <a:t>03</a:t>
            </a:r>
          </a:p>
        </p:txBody>
      </p:sp>
      <p:sp>
        <p:nvSpPr>
          <p:cNvPr id="18" name="TextBox 17"/>
          <p:cNvSpPr txBox="1"/>
          <p:nvPr/>
        </p:nvSpPr>
        <p:spPr>
          <a:xfrm>
            <a:off x="1737360" y="3767328"/>
            <a:ext cx="2560320" cy="219456"/>
          </a:xfrm>
          <a:prstGeom prst="rect">
            <a:avLst/>
          </a:prstGeom>
          <a:noFill/>
        </p:spPr>
        <p:txBody>
          <a:bodyPr wrap="square" anchor="t">
            <a:spAutoFit/>
          </a:bodyPr>
          <a:lstStyle/>
          <a:p>
            <a:pPr algn="l"/>
            <a:r>
              <a:rPr sz="1600" b="1" i="0">
                <a:solidFill>
                  <a:srgbClr val="14181F"/>
                </a:solidFill>
                <a:latin typeface="Aptos"/>
              </a:rPr>
              <a:t>Deliver consistently</a:t>
            </a:r>
          </a:p>
        </p:txBody>
      </p:sp>
      <p:sp>
        <p:nvSpPr>
          <p:cNvPr id="19" name="TextBox 18"/>
          <p:cNvSpPr txBox="1"/>
          <p:nvPr/>
        </p:nvSpPr>
        <p:spPr>
          <a:xfrm>
            <a:off x="4343400" y="3767328"/>
            <a:ext cx="6126480" cy="274320"/>
          </a:xfrm>
          <a:prstGeom prst="rect">
            <a:avLst/>
          </a:prstGeom>
          <a:noFill/>
        </p:spPr>
        <p:txBody>
          <a:bodyPr wrap="square" anchor="t">
            <a:spAutoFit/>
          </a:bodyPr>
          <a:lstStyle/>
          <a:p>
            <a:pPr algn="l"/>
            <a:r>
              <a:rPr sz="1400" b="0" i="0">
                <a:solidFill>
                  <a:srgbClr val="6C7480"/>
                </a:solidFill>
                <a:latin typeface="Aptos"/>
              </a:rPr>
              <a:t>Run the program through standardized processes and shared resources.</a:t>
            </a:r>
          </a:p>
        </p:txBody>
      </p:sp>
      <p:cxnSp>
        <p:nvCxnSpPr>
          <p:cNvPr id="20" name="Connector 19"/>
          <p:cNvCxnSpPr/>
          <p:nvPr/>
        </p:nvCxnSpPr>
        <p:spPr>
          <a:xfrm>
            <a:off x="1115568" y="4169664"/>
            <a:ext cx="0" cy="365760"/>
          </a:xfrm>
          <a:prstGeom prst="line">
            <a:avLst/>
          </a:prstGeom>
          <a:ln w="19050">
            <a:solidFill>
              <a:srgbClr val="004EF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 y="4535424"/>
            <a:ext cx="594360" cy="475488"/>
          </a:xfrm>
          <a:prstGeom prst="round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663440"/>
            <a:ext cx="594360" cy="182880"/>
          </a:xfrm>
          <a:prstGeom prst="rect">
            <a:avLst/>
          </a:prstGeom>
          <a:noFill/>
        </p:spPr>
        <p:txBody>
          <a:bodyPr wrap="square" anchor="t">
            <a:spAutoFit/>
          </a:bodyPr>
          <a:lstStyle/>
          <a:p>
            <a:pPr algn="ctr"/>
            <a:r>
              <a:rPr sz="1400" b="1" i="0">
                <a:solidFill>
                  <a:srgbClr val="FFFFFF"/>
                </a:solidFill>
                <a:latin typeface="Aptos"/>
              </a:rPr>
              <a:t>04</a:t>
            </a:r>
          </a:p>
        </p:txBody>
      </p:sp>
      <p:sp>
        <p:nvSpPr>
          <p:cNvPr id="23" name="TextBox 22"/>
          <p:cNvSpPr txBox="1"/>
          <p:nvPr/>
        </p:nvSpPr>
        <p:spPr>
          <a:xfrm>
            <a:off x="1737360" y="4608576"/>
            <a:ext cx="2560320" cy="219456"/>
          </a:xfrm>
          <a:prstGeom prst="rect">
            <a:avLst/>
          </a:prstGeom>
          <a:noFill/>
        </p:spPr>
        <p:txBody>
          <a:bodyPr wrap="square" anchor="t">
            <a:spAutoFit/>
          </a:bodyPr>
          <a:lstStyle/>
          <a:p>
            <a:pPr algn="l"/>
            <a:r>
              <a:rPr sz="1600" b="1" i="0">
                <a:solidFill>
                  <a:srgbClr val="14181F"/>
                </a:solidFill>
                <a:latin typeface="Aptos"/>
              </a:rPr>
              <a:t>Invest with proof</a:t>
            </a:r>
          </a:p>
        </p:txBody>
      </p:sp>
      <p:sp>
        <p:nvSpPr>
          <p:cNvPr id="24" name="TextBox 23"/>
          <p:cNvSpPr txBox="1"/>
          <p:nvPr/>
        </p:nvSpPr>
        <p:spPr>
          <a:xfrm>
            <a:off x="4343400" y="4608576"/>
            <a:ext cx="6126480" cy="274320"/>
          </a:xfrm>
          <a:prstGeom prst="rect">
            <a:avLst/>
          </a:prstGeom>
          <a:noFill/>
        </p:spPr>
        <p:txBody>
          <a:bodyPr wrap="square" anchor="t">
            <a:spAutoFit/>
          </a:bodyPr>
          <a:lstStyle/>
          <a:p>
            <a:pPr algn="l"/>
            <a:r>
              <a:rPr sz="1400" b="0" i="0">
                <a:solidFill>
                  <a:srgbClr val="6C7480"/>
                </a:solidFill>
                <a:latin typeface="Aptos"/>
              </a:rPr>
              <a:t>Build dedicated infrastructure and internal capacity after demand is validated.</a:t>
            </a:r>
          </a:p>
        </p:txBody>
      </p:sp>
      <p:sp>
        <p:nvSpPr>
          <p:cNvPr id="25" name="Rounded Rectangle 24"/>
          <p:cNvSpPr/>
          <p:nvPr/>
        </p:nvSpPr>
        <p:spPr>
          <a:xfrm>
            <a:off x="822960" y="5623560"/>
            <a:ext cx="10515600" cy="502920"/>
          </a:xfrm>
          <a:prstGeom prst="roundRect">
            <a:avLst/>
          </a:prstGeom>
          <a:solidFill>
            <a:srgbClr val="FFF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5779008"/>
            <a:ext cx="10058400" cy="182880"/>
          </a:xfrm>
          <a:prstGeom prst="rect">
            <a:avLst/>
          </a:prstGeom>
          <a:noFill/>
        </p:spPr>
        <p:txBody>
          <a:bodyPr wrap="square" anchor="t">
            <a:spAutoFit/>
          </a:bodyPr>
          <a:lstStyle/>
          <a:p>
            <a:pPr algn="ctr"/>
            <a:r>
              <a:rPr sz="1400" b="1" i="0">
                <a:solidFill>
                  <a:srgbClr val="14181F"/>
                </a:solidFill>
                <a:latin typeface="Aptos"/>
              </a:rPr>
              <a:t>Our first investment is not in furniture. It is in founder outcomes.</a:t>
            </a:r>
          </a:p>
        </p:txBody>
      </p:sp>
      <p:cxnSp>
        <p:nvCxnSpPr>
          <p:cNvPr id="27" name="Connector 26"/>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29" name="TextBox 28"/>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20040"/>
            <a:ext cx="3200400" cy="201168"/>
          </a:xfrm>
          <a:prstGeom prst="rect">
            <a:avLst/>
          </a:prstGeom>
          <a:noFill/>
        </p:spPr>
        <p:txBody>
          <a:bodyPr wrap="square" anchor="t">
            <a:spAutoFit/>
          </a:bodyPr>
          <a:lstStyle/>
          <a:p>
            <a:pPr algn="l"/>
            <a:r>
              <a:rPr sz="900" b="1" i="0">
                <a:solidFill>
                  <a:srgbClr val="004EF6"/>
                </a:solidFill>
                <a:latin typeface="Aptos"/>
              </a:rPr>
              <a:t>BEYOND AARAMBH</a:t>
            </a:r>
          </a:p>
        </p:txBody>
      </p:sp>
      <p:sp>
        <p:nvSpPr>
          <p:cNvPr id="4" name="TextBox 3"/>
          <p:cNvSpPr txBox="1"/>
          <p:nvPr/>
        </p:nvSpPr>
        <p:spPr>
          <a:xfrm>
            <a:off x="658368" y="685800"/>
            <a:ext cx="10789920" cy="594360"/>
          </a:xfrm>
          <a:prstGeom prst="rect">
            <a:avLst/>
          </a:prstGeom>
          <a:noFill/>
        </p:spPr>
        <p:txBody>
          <a:bodyPr wrap="square" anchor="t">
            <a:spAutoFit/>
          </a:bodyPr>
          <a:lstStyle/>
          <a:p>
            <a:pPr algn="l"/>
            <a:r>
              <a:rPr sz="2900" b="1" i="0">
                <a:solidFill>
                  <a:srgbClr val="14181F"/>
                </a:solidFill>
                <a:latin typeface="Aptos Display"/>
              </a:rPr>
              <a:t>The cohort is the beginning—not the end.</a:t>
            </a:r>
          </a:p>
        </p:txBody>
      </p:sp>
      <p:sp>
        <p:nvSpPr>
          <p:cNvPr id="5" name="TextBox 4"/>
          <p:cNvSpPr txBox="1"/>
          <p:nvPr/>
        </p:nvSpPr>
        <p:spPr>
          <a:xfrm>
            <a:off x="685800" y="1353312"/>
            <a:ext cx="10332720" cy="320040"/>
          </a:xfrm>
          <a:prstGeom prst="rect">
            <a:avLst/>
          </a:prstGeom>
          <a:noFill/>
        </p:spPr>
        <p:txBody>
          <a:bodyPr wrap="square" anchor="t">
            <a:spAutoFit/>
          </a:bodyPr>
          <a:lstStyle/>
          <a:p>
            <a:pPr algn="l"/>
            <a:r>
              <a:rPr sz="1300" b="0" i="0">
                <a:solidFill>
                  <a:srgbClr val="6C7480"/>
                </a:solidFill>
                <a:latin typeface="Aptos"/>
              </a:rPr>
              <a:t>Over time, Pitchvilla can evolve into a broader founder ecosystem.</a:t>
            </a:r>
          </a:p>
        </p:txBody>
      </p:sp>
      <p:sp>
        <p:nvSpPr>
          <p:cNvPr id="6" name="Rounded Rectangle 5"/>
          <p:cNvSpPr/>
          <p:nvPr/>
        </p:nvSpPr>
        <p:spPr>
          <a:xfrm>
            <a:off x="731520" y="2057400"/>
            <a:ext cx="5120640" cy="123444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13432"/>
            <a:ext cx="4389120" cy="274320"/>
          </a:xfrm>
          <a:prstGeom prst="rect">
            <a:avLst/>
          </a:prstGeom>
          <a:noFill/>
        </p:spPr>
        <p:txBody>
          <a:bodyPr wrap="square" anchor="t">
            <a:spAutoFit/>
          </a:bodyPr>
          <a:lstStyle/>
          <a:p>
            <a:pPr algn="l"/>
            <a:r>
              <a:rPr sz="1800" b="1" i="0">
                <a:solidFill>
                  <a:srgbClr val="14181F"/>
                </a:solidFill>
                <a:latin typeface="Aptos Display"/>
              </a:rPr>
              <a:t>Founder Programs</a:t>
            </a:r>
          </a:p>
        </p:txBody>
      </p:sp>
      <p:sp>
        <p:nvSpPr>
          <p:cNvPr id="8" name="TextBox 7"/>
          <p:cNvSpPr txBox="1"/>
          <p:nvPr/>
        </p:nvSpPr>
        <p:spPr>
          <a:xfrm>
            <a:off x="1005840" y="2770632"/>
            <a:ext cx="4389120" cy="274320"/>
          </a:xfrm>
          <a:prstGeom prst="rect">
            <a:avLst/>
          </a:prstGeom>
          <a:noFill/>
        </p:spPr>
        <p:txBody>
          <a:bodyPr wrap="square" anchor="t">
            <a:spAutoFit/>
          </a:bodyPr>
          <a:lstStyle/>
          <a:p>
            <a:pPr algn="l"/>
            <a:r>
              <a:rPr sz="1300" b="0" i="0">
                <a:solidFill>
                  <a:srgbClr val="6C7480"/>
                </a:solidFill>
                <a:latin typeface="Aptos"/>
              </a:rPr>
              <a:t>Multiple cohorts, advanced tracks, and sector-focused programs.</a:t>
            </a:r>
          </a:p>
        </p:txBody>
      </p:sp>
      <p:sp>
        <p:nvSpPr>
          <p:cNvPr id="9" name="Rounded Rectangle 8"/>
          <p:cNvSpPr/>
          <p:nvPr/>
        </p:nvSpPr>
        <p:spPr>
          <a:xfrm>
            <a:off x="6263640" y="2057400"/>
            <a:ext cx="5120640" cy="1234440"/>
          </a:xfrm>
          <a:prstGeom prst="roundRect">
            <a:avLst/>
          </a:prstGeom>
          <a:solidFill>
            <a:srgbClr val="FAFAF7"/>
          </a:solidFill>
          <a:ln>
            <a:solidFill>
              <a:srgbClr val="F6B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59" y="2313432"/>
            <a:ext cx="4389120" cy="274320"/>
          </a:xfrm>
          <a:prstGeom prst="rect">
            <a:avLst/>
          </a:prstGeom>
          <a:noFill/>
        </p:spPr>
        <p:txBody>
          <a:bodyPr wrap="square" anchor="t">
            <a:spAutoFit/>
          </a:bodyPr>
          <a:lstStyle/>
          <a:p>
            <a:pPr algn="l"/>
            <a:r>
              <a:rPr sz="1800" b="1" i="0">
                <a:solidFill>
                  <a:srgbClr val="14181F"/>
                </a:solidFill>
                <a:latin typeface="Aptos Display"/>
              </a:rPr>
              <a:t>Shared Technology</a:t>
            </a:r>
          </a:p>
        </p:txBody>
      </p:sp>
      <p:sp>
        <p:nvSpPr>
          <p:cNvPr id="11" name="TextBox 10"/>
          <p:cNvSpPr txBox="1"/>
          <p:nvPr/>
        </p:nvSpPr>
        <p:spPr>
          <a:xfrm>
            <a:off x="6537959" y="2770632"/>
            <a:ext cx="4389120" cy="274320"/>
          </a:xfrm>
          <a:prstGeom prst="rect">
            <a:avLst/>
          </a:prstGeom>
          <a:noFill/>
        </p:spPr>
        <p:txBody>
          <a:bodyPr wrap="square" anchor="t">
            <a:spAutoFit/>
          </a:bodyPr>
          <a:lstStyle/>
          <a:p>
            <a:pPr algn="l"/>
            <a:r>
              <a:rPr sz="1300" b="0" i="0">
                <a:solidFill>
                  <a:srgbClr val="6C7480"/>
                </a:solidFill>
                <a:latin typeface="Aptos"/>
              </a:rPr>
              <a:t>CRM, automation, websites, and digital infrastructure as recurring services.</a:t>
            </a:r>
          </a:p>
        </p:txBody>
      </p:sp>
      <p:sp>
        <p:nvSpPr>
          <p:cNvPr id="12" name="Rounded Rectangle 11"/>
          <p:cNvSpPr/>
          <p:nvPr/>
        </p:nvSpPr>
        <p:spPr>
          <a:xfrm>
            <a:off x="731520" y="3703320"/>
            <a:ext cx="5120640" cy="1234440"/>
          </a:xfrm>
          <a:prstGeom prst="roundRect">
            <a:avLst/>
          </a:prstGeom>
          <a:solidFill>
            <a:srgbClr val="FAFAF7"/>
          </a:solidFill>
          <a:ln>
            <a:solidFill>
              <a:srgbClr val="239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959352"/>
            <a:ext cx="4389120" cy="274320"/>
          </a:xfrm>
          <a:prstGeom prst="rect">
            <a:avLst/>
          </a:prstGeom>
          <a:noFill/>
        </p:spPr>
        <p:txBody>
          <a:bodyPr wrap="square" anchor="t">
            <a:spAutoFit/>
          </a:bodyPr>
          <a:lstStyle/>
          <a:p>
            <a:pPr algn="l"/>
            <a:r>
              <a:rPr sz="1800" b="1" i="0">
                <a:solidFill>
                  <a:srgbClr val="14181F"/>
                </a:solidFill>
                <a:latin typeface="Aptos Display"/>
              </a:rPr>
              <a:t>Growth Services</a:t>
            </a:r>
          </a:p>
        </p:txBody>
      </p:sp>
      <p:sp>
        <p:nvSpPr>
          <p:cNvPr id="14" name="TextBox 13"/>
          <p:cNvSpPr txBox="1"/>
          <p:nvPr/>
        </p:nvSpPr>
        <p:spPr>
          <a:xfrm>
            <a:off x="1005840" y="4416552"/>
            <a:ext cx="4389120" cy="274320"/>
          </a:xfrm>
          <a:prstGeom prst="rect">
            <a:avLst/>
          </a:prstGeom>
          <a:noFill/>
        </p:spPr>
        <p:txBody>
          <a:bodyPr wrap="square" anchor="t">
            <a:spAutoFit/>
          </a:bodyPr>
          <a:lstStyle/>
          <a:p>
            <a:pPr algn="l"/>
            <a:r>
              <a:rPr sz="1300" b="0" i="0">
                <a:solidFill>
                  <a:srgbClr val="6C7480"/>
                </a:solidFill>
                <a:latin typeface="Aptos"/>
              </a:rPr>
              <a:t>Marketing, content, performance campaigns, and operational support.</a:t>
            </a:r>
          </a:p>
        </p:txBody>
      </p:sp>
      <p:sp>
        <p:nvSpPr>
          <p:cNvPr id="15" name="Rounded Rectangle 14"/>
          <p:cNvSpPr/>
          <p:nvPr/>
        </p:nvSpPr>
        <p:spPr>
          <a:xfrm>
            <a:off x="6263640" y="3703320"/>
            <a:ext cx="5120640" cy="1234440"/>
          </a:xfrm>
          <a:prstGeom prst="roundRect">
            <a:avLst/>
          </a:prstGeom>
          <a:solidFill>
            <a:srgbClr val="FAFAF7"/>
          </a:solidFill>
          <a:ln>
            <a:solidFill>
              <a:srgbClr val="004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59" y="3959352"/>
            <a:ext cx="4389120" cy="274320"/>
          </a:xfrm>
          <a:prstGeom prst="rect">
            <a:avLst/>
          </a:prstGeom>
          <a:noFill/>
        </p:spPr>
        <p:txBody>
          <a:bodyPr wrap="square" anchor="t">
            <a:spAutoFit/>
          </a:bodyPr>
          <a:lstStyle/>
          <a:p>
            <a:pPr algn="l"/>
            <a:r>
              <a:rPr sz="1800" b="1" i="0">
                <a:solidFill>
                  <a:srgbClr val="14181F"/>
                </a:solidFill>
                <a:latin typeface="Aptos Display"/>
              </a:rPr>
              <a:t>Founder Network</a:t>
            </a:r>
          </a:p>
        </p:txBody>
      </p:sp>
      <p:sp>
        <p:nvSpPr>
          <p:cNvPr id="17" name="TextBox 16"/>
          <p:cNvSpPr txBox="1"/>
          <p:nvPr/>
        </p:nvSpPr>
        <p:spPr>
          <a:xfrm>
            <a:off x="6537959" y="4416552"/>
            <a:ext cx="4389120" cy="274320"/>
          </a:xfrm>
          <a:prstGeom prst="rect">
            <a:avLst/>
          </a:prstGeom>
          <a:noFill/>
        </p:spPr>
        <p:txBody>
          <a:bodyPr wrap="square" anchor="t">
            <a:spAutoFit/>
          </a:bodyPr>
          <a:lstStyle/>
          <a:p>
            <a:pPr algn="l"/>
            <a:r>
              <a:rPr sz="1300" b="0" i="0">
                <a:solidFill>
                  <a:srgbClr val="6C7480"/>
                </a:solidFill>
                <a:latin typeface="Aptos"/>
              </a:rPr>
              <a:t>Peer learning, partnerships, talent access, and ecosystem collaboration.</a:t>
            </a:r>
          </a:p>
        </p:txBody>
      </p:sp>
      <p:sp>
        <p:nvSpPr>
          <p:cNvPr id="18" name="TextBox 17"/>
          <p:cNvSpPr txBox="1"/>
          <p:nvPr/>
        </p:nvSpPr>
        <p:spPr>
          <a:xfrm>
            <a:off x="731520" y="5715000"/>
            <a:ext cx="10698480" cy="320040"/>
          </a:xfrm>
          <a:prstGeom prst="rect">
            <a:avLst/>
          </a:prstGeom>
          <a:noFill/>
        </p:spPr>
        <p:txBody>
          <a:bodyPr wrap="square" anchor="t">
            <a:spAutoFit/>
          </a:bodyPr>
          <a:lstStyle/>
          <a:p>
            <a:pPr algn="ctr"/>
            <a:r>
              <a:rPr sz="1800" b="1" i="0">
                <a:solidFill>
                  <a:srgbClr val="004EF6"/>
                </a:solidFill>
                <a:latin typeface="Aptos Display"/>
              </a:rPr>
              <a:t>A platform where founders can enter, build, access resources, and continue growing.</a:t>
            </a:r>
          </a:p>
        </p:txBody>
      </p:sp>
      <p:cxnSp>
        <p:nvCxnSpPr>
          <p:cNvPr id="19" name="Connector 18"/>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21" name="TextBox 20"/>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3840480" cy="274320"/>
          </a:xfrm>
          <a:prstGeom prst="rect">
            <a:avLst/>
          </a:prstGeom>
          <a:noFill/>
        </p:spPr>
        <p:txBody>
          <a:bodyPr wrap="square" anchor="t">
            <a:spAutoFit/>
          </a:bodyPr>
          <a:lstStyle/>
          <a:p>
            <a:pPr algn="l"/>
            <a:r>
              <a:rPr sz="1600" b="1" i="0">
                <a:solidFill>
                  <a:srgbClr val="FFFFFF"/>
                </a:solidFill>
                <a:latin typeface="Aptos Display"/>
              </a:rPr>
              <a:t>PITCHVILLA</a:t>
            </a:r>
          </a:p>
        </p:txBody>
      </p:sp>
      <p:sp>
        <p:nvSpPr>
          <p:cNvPr id="4" name="TextBox 3"/>
          <p:cNvSpPr txBox="1"/>
          <p:nvPr/>
        </p:nvSpPr>
        <p:spPr>
          <a:xfrm>
            <a:off x="731520" y="1508760"/>
            <a:ext cx="7589520" cy="2194560"/>
          </a:xfrm>
          <a:prstGeom prst="rect">
            <a:avLst/>
          </a:prstGeom>
          <a:noFill/>
        </p:spPr>
        <p:txBody>
          <a:bodyPr wrap="square" anchor="t">
            <a:spAutoFit/>
          </a:bodyPr>
          <a:lstStyle/>
          <a:p>
            <a:pPr algn="l"/>
            <a:r>
              <a:rPr sz="3500" b="1" i="0">
                <a:solidFill>
                  <a:srgbClr val="FFFFFF"/>
                </a:solidFill>
                <a:latin typeface="Aptos Display"/>
              </a:rPr>
              <a:t>We are not here
to teach entrepreneurship.
We are here to make it
more executable.</a:t>
            </a:r>
          </a:p>
        </p:txBody>
      </p:sp>
      <p:sp>
        <p:nvSpPr>
          <p:cNvPr id="5" name="Rounded Rectangle 4"/>
          <p:cNvSpPr/>
          <p:nvPr/>
        </p:nvSpPr>
        <p:spPr>
          <a:xfrm>
            <a:off x="777240" y="4663440"/>
            <a:ext cx="2743200" cy="457200"/>
          </a:xfrm>
          <a:prstGeom prst="roundRect">
            <a:avLst/>
          </a:prstGeom>
          <a:solidFill>
            <a:srgbClr val="F6B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800600"/>
            <a:ext cx="2743200" cy="164592"/>
          </a:xfrm>
          <a:prstGeom prst="rect">
            <a:avLst/>
          </a:prstGeom>
          <a:noFill/>
        </p:spPr>
        <p:txBody>
          <a:bodyPr wrap="square" anchor="t">
            <a:spAutoFit/>
          </a:bodyPr>
          <a:lstStyle/>
          <a:p>
            <a:pPr algn="ctr"/>
            <a:r>
              <a:rPr sz="1000" b="1" i="0">
                <a:solidFill>
                  <a:srgbClr val="14181F"/>
                </a:solidFill>
                <a:latin typeface="Aptos"/>
              </a:rPr>
              <a:t>AARAMBH / COHORT 01</a:t>
            </a:r>
          </a:p>
        </p:txBody>
      </p:sp>
      <p:sp>
        <p:nvSpPr>
          <p:cNvPr id="7" name="TextBox 6"/>
          <p:cNvSpPr txBox="1"/>
          <p:nvPr/>
        </p:nvSpPr>
        <p:spPr>
          <a:xfrm>
            <a:off x="777240" y="5440680"/>
            <a:ext cx="5943600" cy="274320"/>
          </a:xfrm>
          <a:prstGeom prst="rect">
            <a:avLst/>
          </a:prstGeom>
          <a:noFill/>
        </p:spPr>
        <p:txBody>
          <a:bodyPr wrap="square" anchor="t">
            <a:spAutoFit/>
          </a:bodyPr>
          <a:lstStyle/>
          <a:p>
            <a:pPr algn="l"/>
            <a:r>
              <a:rPr sz="1400" b="0" i="0">
                <a:solidFill>
                  <a:srgbClr val="D2DCE6"/>
                </a:solidFill>
                <a:latin typeface="Aptos"/>
              </a:rPr>
              <a:t>For founders ready to build with clarity, discipline, and commitment.</a:t>
            </a:r>
          </a:p>
        </p:txBody>
      </p:sp>
      <p:sp>
        <p:nvSpPr>
          <p:cNvPr id="8" name="TextBox 7"/>
          <p:cNvSpPr txBox="1"/>
          <p:nvPr/>
        </p:nvSpPr>
        <p:spPr>
          <a:xfrm>
            <a:off x="8229600" y="2011680"/>
            <a:ext cx="2926080" cy="914400"/>
          </a:xfrm>
          <a:prstGeom prst="rect">
            <a:avLst/>
          </a:prstGeom>
          <a:noFill/>
        </p:spPr>
        <p:txBody>
          <a:bodyPr wrap="square" anchor="t">
            <a:spAutoFit/>
          </a:bodyPr>
          <a:lstStyle/>
          <a:p>
            <a:pPr algn="ctr"/>
            <a:r>
              <a:rPr sz="2300" b="1" i="0">
                <a:solidFill>
                  <a:srgbClr val="F6BF35"/>
                </a:solidFill>
                <a:latin typeface="Aptos Display"/>
              </a:rPr>
              <a:t>IDEAS DON'T SCALE.
FOUNDERS DO.</a:t>
            </a:r>
          </a:p>
        </p:txBody>
      </p:sp>
      <p:cxnSp>
        <p:nvCxnSpPr>
          <p:cNvPr id="9" name="Connector 8"/>
          <p:cNvCxnSpPr/>
          <p:nvPr/>
        </p:nvCxnSpPr>
        <p:spPr>
          <a:xfrm>
            <a:off x="8412480" y="3429000"/>
            <a:ext cx="2514600" cy="0"/>
          </a:xfrm>
          <a:prstGeom prst="line">
            <a:avLst/>
          </a:prstGeom>
          <a:ln w="38100">
            <a:solidFill>
              <a:srgbClr val="F6BF3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0" y="3840480"/>
            <a:ext cx="2926080" cy="594360"/>
          </a:xfrm>
          <a:prstGeom prst="rect">
            <a:avLst/>
          </a:prstGeom>
          <a:noFill/>
        </p:spPr>
        <p:txBody>
          <a:bodyPr wrap="square" anchor="t">
            <a:spAutoFit/>
          </a:bodyPr>
          <a:lstStyle/>
          <a:p>
            <a:pPr algn="ctr"/>
            <a:r>
              <a:rPr sz="1500" b="1" i="0">
                <a:solidFill>
                  <a:srgbClr val="FFFFFF"/>
                </a:solidFill>
                <a:latin typeface="Aptos"/>
              </a:rPr>
              <a:t>NOVEMBER 2026
AHMEDABAD</a:t>
            </a:r>
          </a:p>
        </p:txBody>
      </p:sp>
      <p:cxnSp>
        <p:nvCxnSpPr>
          <p:cNvPr id="11" name="Connector 10"/>
          <p:cNvCxnSpPr/>
          <p:nvPr/>
        </p:nvCxnSpPr>
        <p:spPr>
          <a:xfrm>
            <a:off x="658368" y="6291072"/>
            <a:ext cx="10863072" cy="0"/>
          </a:xfrm>
          <a:prstGeom prst="line">
            <a:avLst/>
          </a:prstGeom>
          <a:ln w="10160">
            <a:solidFill>
              <a:srgbClr val="E0E3E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8368" y="6428232"/>
            <a:ext cx="4389120" cy="164592"/>
          </a:xfrm>
          <a:prstGeom prst="rect">
            <a:avLst/>
          </a:prstGeom>
          <a:noFill/>
        </p:spPr>
        <p:txBody>
          <a:bodyPr wrap="square" anchor="t">
            <a:spAutoFit/>
          </a:bodyPr>
          <a:lstStyle/>
          <a:p>
            <a:pPr algn="l"/>
            <a:r>
              <a:rPr sz="800" b="1" i="0">
                <a:solidFill>
                  <a:srgbClr val="6C7480"/>
                </a:solidFill>
                <a:latin typeface="Aptos"/>
              </a:rPr>
              <a:t>PITCHVILLA STARTUP SCHOOL  /  AARAMBH</a:t>
            </a:r>
          </a:p>
        </p:txBody>
      </p:sp>
      <p:sp>
        <p:nvSpPr>
          <p:cNvPr id="13" name="TextBox 12"/>
          <p:cNvSpPr txBox="1"/>
          <p:nvPr/>
        </p:nvSpPr>
        <p:spPr>
          <a:xfrm>
            <a:off x="10972800" y="6419088"/>
            <a:ext cx="502920" cy="164592"/>
          </a:xfrm>
          <a:prstGeom prst="rect">
            <a:avLst/>
          </a:prstGeom>
          <a:noFill/>
        </p:spPr>
        <p:txBody>
          <a:bodyPr wrap="square" anchor="t">
            <a:spAutoFit/>
          </a:bodyPr>
          <a:lstStyle/>
          <a:p>
            <a:pPr algn="r"/>
            <a:r>
              <a:rPr sz="800" b="1" i="0">
                <a:solidFill>
                  <a:srgbClr val="004EF6"/>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00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85800"/>
            <a:ext cx="5486400" cy="274320"/>
          </a:xfrm>
          <a:prstGeom prst="rect">
            <a:avLst/>
          </a:prstGeom>
          <a:noFill/>
        </p:spPr>
        <p:txBody>
          <a:bodyPr wrap="square" anchor="t">
            <a:spAutoFit/>
          </a:bodyPr>
          <a:lstStyle/>
          <a:p>
            <a:pPr algn="l"/>
            <a:r>
              <a:rPr sz="1300" b="1" i="0">
                <a:solidFill>
                  <a:srgbClr val="004EF6"/>
                </a:solidFill>
                <a:latin typeface="Aptos"/>
              </a:rPr>
              <a:t>PITCHVILLA STARTUP SCHOOL</a:t>
            </a:r>
          </a:p>
        </p:txBody>
      </p:sp>
      <p:sp>
        <p:nvSpPr>
          <p:cNvPr id="5" name="TextBox 4"/>
          <p:cNvSpPr txBox="1"/>
          <p:nvPr/>
        </p:nvSpPr>
        <p:spPr>
          <a:xfrm>
            <a:off x="777240" y="1508760"/>
            <a:ext cx="7589520" cy="1051560"/>
          </a:xfrm>
          <a:prstGeom prst="rect">
            <a:avLst/>
          </a:prstGeom>
          <a:noFill/>
        </p:spPr>
        <p:txBody>
          <a:bodyPr wrap="square" anchor="t">
            <a:spAutoFit/>
          </a:bodyPr>
          <a:lstStyle/>
          <a:p>
            <a:pPr algn="l"/>
            <a:r>
              <a:rPr sz="3700" b="1" i="0">
                <a:solidFill>
                  <a:srgbClr val="14181F"/>
                </a:solidFill>
                <a:latin typeface="Aptos Display"/>
              </a:rPr>
              <a:t>A new chapter
for founders begins now.</a:t>
            </a:r>
          </a:p>
        </p:txBody>
      </p:sp>
      <p:sp>
        <p:nvSpPr>
          <p:cNvPr id="6" name="TextBox 5"/>
          <p:cNvSpPr txBox="1"/>
          <p:nvPr/>
        </p:nvSpPr>
        <p:spPr>
          <a:xfrm>
            <a:off x="822960" y="2971800"/>
            <a:ext cx="5852160" cy="914400"/>
          </a:xfrm>
          <a:prstGeom prst="rect">
            <a:avLst/>
          </a:prstGeom>
          <a:noFill/>
        </p:spPr>
        <p:txBody>
          <a:bodyPr wrap="square" anchor="t">
            <a:spAutoFit/>
          </a:bodyPr>
          <a:lstStyle/>
          <a:p>
            <a:pPr algn="l"/>
            <a:r>
              <a:rPr sz="1800" b="0" i="0">
                <a:solidFill>
                  <a:srgbClr val="30363F"/>
                </a:solidFill>
                <a:latin typeface="Aptos"/>
              </a:rPr>
              <a:t>Pitchvilla has arrived—with a simple belief:
when founders receive the right direction, resources, and environment, they can build businesses that matter.</a:t>
            </a:r>
          </a:p>
        </p:txBody>
      </p:sp>
      <p:sp>
        <p:nvSpPr>
          <p:cNvPr id="7" name="Rounded Rectangle 6"/>
          <p:cNvSpPr/>
          <p:nvPr/>
        </p:nvSpPr>
        <p:spPr>
          <a:xfrm>
            <a:off x="822960" y="4892040"/>
            <a:ext cx="3794760" cy="502920"/>
          </a:xfrm>
          <a:prstGeom prst="roundRect">
            <a:avLst/>
          </a:prstGeom>
          <a:solidFill>
            <a:srgbClr val="14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047488"/>
            <a:ext cx="3794760" cy="182880"/>
          </a:xfrm>
          <a:prstGeom prst="rect">
            <a:avLst/>
          </a:prstGeom>
          <a:noFill/>
        </p:spPr>
        <p:txBody>
          <a:bodyPr wrap="square" anchor="t">
            <a:spAutoFit/>
          </a:bodyPr>
          <a:lstStyle/>
          <a:p>
            <a:pPr algn="ctr"/>
            <a:r>
              <a:rPr sz="1200" b="1" i="0">
                <a:solidFill>
                  <a:srgbClr val="FFFFFF"/>
                </a:solidFill>
                <a:latin typeface="Aptos"/>
              </a:rPr>
              <a:t>IDEAS DON'T SCALE. FOUNDERS DO.</a:t>
            </a:r>
          </a:p>
        </p:txBody>
      </p:sp>
      <p:sp>
        <p:nvSpPr>
          <p:cNvPr id="9" name="TextBox 8"/>
          <p:cNvSpPr txBox="1"/>
          <p:nvPr/>
        </p:nvSpPr>
        <p:spPr>
          <a:xfrm>
            <a:off x="822960" y="5806440"/>
            <a:ext cx="4206240" cy="201168"/>
          </a:xfrm>
          <a:prstGeom prst="rect">
            <a:avLst/>
          </a:prstGeom>
          <a:noFill/>
        </p:spPr>
        <p:txBody>
          <a:bodyPr wrap="square" anchor="t">
            <a:spAutoFit/>
          </a:bodyPr>
          <a:lstStyle/>
          <a:p>
            <a:pPr algn="l"/>
            <a:r>
              <a:rPr sz="1000" b="1" i="0">
                <a:solidFill>
                  <a:srgbClr val="004EF6"/>
                </a:solidFill>
                <a:latin typeface="Aptos"/>
              </a:rPr>
              <a:t>AARAMBH COHORT 01  /  NOVEMBER 2026</a:t>
            </a:r>
          </a:p>
        </p:txBody>
      </p:sp>
      <p:sp>
        <p:nvSpPr>
          <p:cNvPr id="10" name="Rounded Rectangle 9"/>
          <p:cNvSpPr/>
          <p:nvPr/>
        </p:nvSpPr>
        <p:spPr>
          <a:xfrm>
            <a:off x="8321040" y="1417320"/>
            <a:ext cx="2331720" cy="3611880"/>
          </a:xfrm>
          <a:prstGeom prst="roundRect">
            <a:avLst/>
          </a:prstGeom>
          <a:solidFill>
            <a:srgbClr val="EB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2148840"/>
            <a:ext cx="2331720" cy="822960"/>
          </a:xfrm>
          <a:prstGeom prst="rect">
            <a:avLst/>
          </a:prstGeom>
          <a:noFill/>
        </p:spPr>
        <p:txBody>
          <a:bodyPr wrap="square" anchor="t">
            <a:spAutoFit/>
          </a:bodyPr>
          <a:lstStyle/>
          <a:p>
            <a:pPr algn="ctr"/>
            <a:r>
              <a:rPr sz="6000" b="1" i="0">
                <a:solidFill>
                  <a:srgbClr val="004EF6"/>
                </a:solidFill>
                <a:latin typeface="Aptos Display"/>
              </a:rPr>
              <a:t>P</a:t>
            </a:r>
          </a:p>
        </p:txBody>
      </p:sp>
      <p:sp>
        <p:nvSpPr>
          <p:cNvPr id="12" name="TextBox 11"/>
          <p:cNvSpPr txBox="1"/>
          <p:nvPr/>
        </p:nvSpPr>
        <p:spPr>
          <a:xfrm>
            <a:off x="8549640" y="3337560"/>
            <a:ext cx="1874519" cy="914400"/>
          </a:xfrm>
          <a:prstGeom prst="rect">
            <a:avLst/>
          </a:prstGeom>
          <a:noFill/>
        </p:spPr>
        <p:txBody>
          <a:bodyPr wrap="square" anchor="t">
            <a:spAutoFit/>
          </a:bodyPr>
          <a:lstStyle/>
          <a:p>
            <a:pPr algn="ctr"/>
            <a:r>
              <a:rPr sz="1800" b="1" i="0">
                <a:solidFill>
                  <a:srgbClr val="14181F"/>
                </a:solidFill>
                <a:latin typeface="Aptos Display"/>
              </a:rPr>
              <a:t>BUILD.
RESTRUCTURE.
GROW.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