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7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 Display"/>
              </a:rPr>
              <a:t>PITCHVILLA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41832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7BE37"/>
                </a:solidFill>
                <a:latin typeface="Aptos"/>
              </a:rPr>
              <a:t>STARTUP SCHOOL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6583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900" b="1" i="0">
                <a:solidFill>
                  <a:srgbClr val="FFFFFF"/>
                </a:solidFill>
                <a:latin typeface="Aptos Display"/>
              </a:rPr>
              <a:t>Ideas Don't Scale.
Founders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D2DCEB"/>
                </a:solidFill>
                <a:latin typeface="Aptos"/>
              </a:rPr>
              <a:t>A six-month founder enablement platform for entrepreneurs building, restructuring, and scaling real businesses.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17720"/>
            <a:ext cx="2103120" cy="438912"/>
          </a:xfrm>
          <a:prstGeom prst="roundRect">
            <a:avLst/>
          </a:prstGeom>
          <a:solidFill>
            <a:srgbClr val="F7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18304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0A1628"/>
                </a:solidFill>
                <a:latin typeface="Aptos"/>
              </a:rPr>
              <a:t>AARAMBH • COHORT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4754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ECDE1"/>
                </a:solidFill>
                <a:latin typeface="Aptos"/>
              </a:rPr>
              <a:t>Ahmedabad  |  November 2026 – April 2027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0" y="1143000"/>
            <a:ext cx="384048" cy="384048"/>
          </a:xfrm>
          <a:prstGeom prst="ellipse">
            <a:avLst/>
          </a:prstGeom>
          <a:solidFill>
            <a:srgbClr val="F7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0" y="1828800"/>
            <a:ext cx="566928" cy="566928"/>
          </a:xfrm>
          <a:prstGeom prst="ellipse">
            <a:avLst/>
          </a:prstGeom>
          <a:solidFill>
            <a:srgbClr val="23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24160" y="1005840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0" y="3017520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41280" y="3383280"/>
            <a:ext cx="475488" cy="475488"/>
          </a:xfrm>
          <a:prstGeom prst="ellipse">
            <a:avLst/>
          </a:prstGeom>
          <a:solidFill>
            <a:srgbClr val="F7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4572000"/>
            <a:ext cx="329184" cy="329184"/>
          </a:xfrm>
          <a:prstGeom prst="ellipse">
            <a:avLst/>
          </a:prstGeom>
          <a:solidFill>
            <a:srgbClr val="23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0" y="4937760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8412480" y="1508760"/>
            <a:ext cx="1280160" cy="640080"/>
          </a:xfrm>
          <a:prstGeom prst="line">
            <a:avLst/>
          </a:prstGeom>
          <a:ln w="25400">
            <a:solidFill>
              <a:srgbClr val="648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966960" y="1280160"/>
            <a:ext cx="594360" cy="914400"/>
          </a:xfrm>
          <a:prstGeom prst="line">
            <a:avLst/>
          </a:prstGeom>
          <a:ln w="25400">
            <a:solidFill>
              <a:srgbClr val="648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869680" y="2377440"/>
            <a:ext cx="914400" cy="868680"/>
          </a:xfrm>
          <a:prstGeom prst="line">
            <a:avLst/>
          </a:prstGeom>
          <a:ln w="25400">
            <a:solidFill>
              <a:srgbClr val="648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06840" y="3291840"/>
            <a:ext cx="1463040" cy="365760"/>
          </a:xfrm>
          <a:prstGeom prst="line">
            <a:avLst/>
          </a:prstGeom>
          <a:ln w="25400">
            <a:solidFill>
              <a:srgbClr val="648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9784080" y="3840480"/>
            <a:ext cx="822960" cy="960120"/>
          </a:xfrm>
          <a:prstGeom prst="line">
            <a:avLst/>
          </a:prstGeom>
          <a:ln w="25400">
            <a:solidFill>
              <a:srgbClr val="648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652760" y="3749039"/>
            <a:ext cx="411480" cy="1325881"/>
          </a:xfrm>
          <a:prstGeom prst="line">
            <a:avLst/>
          </a:prstGeom>
          <a:ln w="25400">
            <a:solidFill>
              <a:srgbClr val="648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635240" y="580644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7BE37"/>
                </a:solidFill>
                <a:latin typeface="Aptos"/>
              </a:rPr>
              <a:t>DIRECTION  •  RESOURCES  • 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35CDC"/>
                </a:solidFill>
                <a:latin typeface="Aptos"/>
              </a:rPr>
              <a:t>01 / 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0A1628"/>
                </a:solidFill>
                <a:latin typeface="Aptos Display"/>
              </a:rPr>
              <a:t>Founders don't always need more advice.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2588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67489"/>
                </a:solidFill>
                <a:latin typeface="Aptos"/>
              </a:rPr>
              <a:t>They need a system that helps them move forward.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5166360" cy="3886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6771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C4646"/>
                </a:solidFill>
                <a:latin typeface="Aptos"/>
              </a:rPr>
              <a:t>THE REALITY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4297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0A1628"/>
                </a:solidFill>
                <a:latin typeface="Aptos"/>
              </a:rPr>
              <a:t>Many founders are already building—but remain stuck.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456432"/>
            <a:ext cx="82296" cy="82296"/>
          </a:xfrm>
          <a:prstGeom prst="rect">
            <a:avLst/>
          </a:prstGeom>
          <a:solidFill>
            <a:srgbClr val="CC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383280"/>
            <a:ext cx="42336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62030"/>
                </a:solidFill>
                <a:latin typeface="Aptos"/>
              </a:rPr>
              <a:t>Growth depends entirely on the founder.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3840480"/>
            <a:ext cx="82296" cy="82296"/>
          </a:xfrm>
          <a:prstGeom prst="rect">
            <a:avLst/>
          </a:prstGeom>
          <a:solidFill>
            <a:srgbClr val="CC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767328"/>
            <a:ext cx="42336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62030"/>
                </a:solidFill>
                <a:latin typeface="Aptos"/>
              </a:rPr>
              <a:t>Business model and positioning are unclear.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4224528"/>
            <a:ext cx="82296" cy="82296"/>
          </a:xfrm>
          <a:prstGeom prst="rect">
            <a:avLst/>
          </a:prstGeom>
          <a:solidFill>
            <a:srgbClr val="CC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151376"/>
            <a:ext cx="42336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62030"/>
                </a:solidFill>
                <a:latin typeface="Aptos"/>
              </a:rPr>
              <a:t>Marketing is inconsistent and difficult to measure.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4608576"/>
            <a:ext cx="82296" cy="82296"/>
          </a:xfrm>
          <a:prstGeom prst="rect">
            <a:avLst/>
          </a:prstGeom>
          <a:solidFill>
            <a:srgbClr val="CC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535424"/>
            <a:ext cx="42336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62030"/>
                </a:solidFill>
                <a:latin typeface="Aptos"/>
              </a:rPr>
              <a:t>Technology and operational systems are missing.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4992624"/>
            <a:ext cx="82296" cy="82296"/>
          </a:xfrm>
          <a:prstGeom prst="rect">
            <a:avLst/>
          </a:prstGeom>
          <a:solidFill>
            <a:srgbClr val="CC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919472"/>
            <a:ext cx="42336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62030"/>
                </a:solidFill>
                <a:latin typeface="Aptos"/>
              </a:rPr>
              <a:t>Hiring the right people feels expensive and uncertain.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5376672"/>
            <a:ext cx="82296" cy="82296"/>
          </a:xfrm>
          <a:prstGeom prst="rect">
            <a:avLst/>
          </a:prstGeom>
          <a:solidFill>
            <a:srgbClr val="CC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303520"/>
            <a:ext cx="42336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62030"/>
                </a:solidFill>
                <a:latin typeface="Aptos"/>
              </a:rPr>
              <a:t>Mentorship exists—but execution ownership does not.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1965960"/>
            <a:ext cx="5486400" cy="3886200"/>
          </a:xfrm>
          <a:prstGeom prst="round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226771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7BE37"/>
                </a:solidFill>
                <a:latin typeface="Aptos"/>
              </a:rPr>
              <a:t>THE 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606040"/>
            <a:ext cx="4572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ptos"/>
              </a:rPr>
              <a:t>Between learning how to build a business
and actually building one.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3886200"/>
            <a:ext cx="45720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D2DCEB"/>
                </a:solidFill>
                <a:latin typeface="Aptos"/>
              </a:rPr>
              <a:t>Pitchvilla fills this gap by combining strategy, mentorship, shared infrastructure, technology, marketing resources, and structured execution support.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525780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7BE37"/>
                </a:solidFill>
                <a:latin typeface="Aptos"/>
              </a:rPr>
              <a:t>A founder enablement platform—not another seminar.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67489"/>
                </a:solidFill>
                <a:latin typeface="Aptos"/>
              </a:rPr>
              <a:t>PITCHVILLA STARTUP SCHOOL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235CDC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35CDC"/>
                </a:solidFill>
                <a:latin typeface="Aptos"/>
              </a:rPr>
              <a:t>02 / THE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0A1628"/>
                </a:solidFill>
                <a:latin typeface="Aptos Display"/>
              </a:rPr>
              <a:t>Built for founders who have started—but haven't scaled.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2588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67489"/>
                </a:solidFill>
                <a:latin typeface="Aptos"/>
              </a:rPr>
              <a:t>A precise customer segment creates a precise product.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429000" cy="338328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3429000" cy="109728"/>
          </a:xfrm>
          <a:prstGeom prst="rect">
            <a:avLst/>
          </a:prstGeom>
          <a:solidFill>
            <a:srgbClr val="23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A1628"/>
                </a:solidFill>
                <a:latin typeface="Aptos"/>
              </a:rPr>
              <a:t>THE STAGNANT FOUNDER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2834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62030"/>
                </a:solidFill>
                <a:latin typeface="Aptos"/>
              </a:rPr>
              <a:t>Has customers and revenue, but growth has plateaued.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60520"/>
            <a:ext cx="2377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35CDC"/>
                </a:solidFill>
                <a:latin typeface="Aptos"/>
              </a:rPr>
              <a:t>PITCHVILLA ENABLES: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80560"/>
            <a:ext cx="2788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67489"/>
                </a:solidFill>
                <a:latin typeface="Aptos"/>
              </a:rPr>
              <a:t>Needs repeatable sales, delegation, systems, and accountability.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965960"/>
            <a:ext cx="3429000" cy="338328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965960"/>
            <a:ext cx="3429000" cy="109728"/>
          </a:xfrm>
          <a:prstGeom prst="rect">
            <a:avLst/>
          </a:prstGeom>
          <a:solidFill>
            <a:srgbClr val="F7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33172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A1628"/>
                </a:solidFill>
                <a:latin typeface="Aptos"/>
              </a:rPr>
              <a:t>THE BUSINESS RESTRUCTURER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063240"/>
            <a:ext cx="2834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62030"/>
                </a:solidFill>
                <a:latin typeface="Aptos"/>
              </a:rPr>
              <a:t>Existing business model is inefficient or no longer fit for growth.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4160520"/>
            <a:ext cx="2377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7BE37"/>
                </a:solidFill>
                <a:latin typeface="Aptos"/>
              </a:rPr>
              <a:t>PITCHVILLA ENABLES: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4480560"/>
            <a:ext cx="2788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67489"/>
                </a:solidFill>
                <a:latin typeface="Aptos"/>
              </a:rPr>
              <a:t>Needs repositioning, pricing, operational redesign, and a documented plan.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965960"/>
            <a:ext cx="3429000" cy="338328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965960"/>
            <a:ext cx="3429000" cy="109728"/>
          </a:xfrm>
          <a:prstGeom prst="rect">
            <a:avLst/>
          </a:prstGeom>
          <a:solidFill>
            <a:srgbClr val="1C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233172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A1628"/>
                </a:solidFill>
                <a:latin typeface="Aptos"/>
              </a:rPr>
              <a:t>THE EARLY-STAGE BUILDER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063240"/>
            <a:ext cx="2834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62030"/>
                </a:solidFill>
                <a:latin typeface="Aptos"/>
              </a:rPr>
              <a:t>Has launched an MVP or begun commercial validation.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4160520"/>
            <a:ext cx="2377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C9D69"/>
                </a:solidFill>
                <a:latin typeface="Aptos"/>
              </a:rPr>
              <a:t>PITCHVILLA ENABLES: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4480560"/>
            <a:ext cx="2788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67489"/>
                </a:solidFill>
                <a:latin typeface="Aptos"/>
              </a:rPr>
              <a:t>Needs a website, CRM, go-to-market structure, and growth foundation.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80644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67489"/>
                </a:solidFill>
                <a:latin typeface="Aptos"/>
              </a:rPr>
              <a:t>Ideal founder profile: operating for 6 months–5 years • solo to small team • clear commercial opportunity • willing to commit six months.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67489"/>
                </a:solidFill>
                <a:latin typeface="Aptos"/>
              </a:rPr>
              <a:t>PITCHVILLA STARTUP SCHOOL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235CDC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7BE37"/>
                </a:solidFill>
                <a:latin typeface="Aptos"/>
              </a:rPr>
              <a:t>03 /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Aptos Display"/>
              </a:rPr>
              <a:t>You bring the business. We bring the backbone.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2588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2DCEB"/>
                </a:solidFill>
                <a:latin typeface="Aptos"/>
              </a:rPr>
              <a:t>One ecosystem. Six months. Structured progress.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2514600" cy="3337560"/>
          </a:xfrm>
          <a:prstGeom prst="roundRect">
            <a:avLst/>
          </a:prstGeom>
          <a:solidFill>
            <a:srgbClr val="18283F"/>
          </a:solidFill>
          <a:ln>
            <a:solidFill>
              <a:srgbClr val="F7B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7BE37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DIRECTION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20440"/>
            <a:ext cx="2011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D2DCEB"/>
                </a:solidFill>
                <a:latin typeface="Aptos"/>
              </a:rPr>
              <a:t>Business diagnosis
Strategy &amp; restructuring
Business plan + financial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057400"/>
            <a:ext cx="2514600" cy="3337560"/>
          </a:xfrm>
          <a:prstGeom prst="roundRect">
            <a:avLst/>
          </a:prstGeom>
          <a:solidFill>
            <a:srgbClr val="18283F"/>
          </a:solidFill>
          <a:ln>
            <a:solidFill>
              <a:srgbClr val="235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3317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35CDC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83464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MENTORSHIP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520440"/>
            <a:ext cx="2011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D2DCEB"/>
                </a:solidFill>
                <a:latin typeface="Aptos"/>
              </a:rPr>
              <a:t>Relevant expert matching
CXO &amp; founder access
Personalized guidance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057400"/>
            <a:ext cx="2514600" cy="3337560"/>
          </a:xfrm>
          <a:prstGeom prst="roundRect">
            <a:avLst/>
          </a:prstGeom>
          <a:solidFill>
            <a:srgbClr val="18283F"/>
          </a:solidFill>
          <a:ln>
            <a:solidFill>
              <a:srgbClr val="1C9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3317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C9D69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83464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RESOURCES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520440"/>
            <a:ext cx="2011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D2DCEB"/>
                </a:solidFill>
                <a:latin typeface="Aptos"/>
              </a:rPr>
              <a:t>Cloud CRM
Website &amp; technology
Marketing &amp; content assets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057400"/>
            <a:ext cx="2514600" cy="3337560"/>
          </a:xfrm>
          <a:prstGeom prst="roundRect">
            <a:avLst/>
          </a:prstGeom>
          <a:solidFill>
            <a:srgbClr val="18283F"/>
          </a:solidFill>
          <a:ln>
            <a:solidFill>
              <a:srgbClr val="F0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23317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0825A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83464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EXECUTION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520440"/>
            <a:ext cx="2011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D2DCEB"/>
                </a:solidFill>
                <a:latin typeface="Aptos"/>
              </a:rPr>
              <a:t>Dedicated Project Manager
Milestone tracking
Operational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8064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7BE37"/>
                </a:solidFill>
                <a:latin typeface="Aptos"/>
              </a:rPr>
              <a:t>We do not build businesses for founders. We enable founders to build better businesses themselves.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AAB4C3"/>
                </a:solidFill>
                <a:latin typeface="Aptos"/>
              </a:rPr>
              <a:t>PITCHVILLA STARTUP SCHOOL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F7BE37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35CDC"/>
                </a:solidFill>
                <a:latin typeface="Aptos"/>
              </a:rPr>
              <a:t>04 / THE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0A1628"/>
                </a:solidFill>
                <a:latin typeface="Aptos Display"/>
              </a:rPr>
              <a:t>A six-month execution journey—not a lecture series.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2588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67489"/>
                </a:solidFill>
                <a:latin typeface="Aptos"/>
              </a:rPr>
              <a:t>Every founder leaves with stronger business foundations and measurable progress.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35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11680"/>
            <a:ext cx="566928" cy="1325880"/>
          </a:xfrm>
          <a:prstGeom prst="rect">
            <a:avLst/>
          </a:prstGeom>
          <a:solidFill>
            <a:srgbClr val="23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40280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A1628"/>
                </a:solidFill>
                <a:latin typeface="Aptos"/>
              </a:rPr>
              <a:t>Diagnose &amp; Define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700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7489"/>
                </a:solidFill>
                <a:latin typeface="Aptos"/>
              </a:rPr>
              <a:t>Business assessment • founder goals • 180-day roadmap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01168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35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2011680"/>
            <a:ext cx="566928" cy="1325880"/>
          </a:xfrm>
          <a:prstGeom prst="rect">
            <a:avLst/>
          </a:prstGeom>
          <a:solidFill>
            <a:srgbClr val="23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423160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240280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A1628"/>
                </a:solidFill>
                <a:latin typeface="Aptos"/>
              </a:rPr>
              <a:t>Business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6700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7489"/>
                </a:solidFill>
                <a:latin typeface="Aptos"/>
              </a:rPr>
              <a:t>Positioning • pricing • revenue model • financial planning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201168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35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2011680"/>
            <a:ext cx="566928" cy="1325880"/>
          </a:xfrm>
          <a:prstGeom prst="rect">
            <a:avLst/>
          </a:prstGeom>
          <a:solidFill>
            <a:srgbClr val="23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423160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240280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A1628"/>
                </a:solidFill>
                <a:latin typeface="Aptos"/>
              </a:rPr>
              <a:t>Validate &amp; 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67004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7489"/>
                </a:solidFill>
                <a:latin typeface="Aptos"/>
              </a:rPr>
              <a:t>Customer discovery • MVP refinement • commercial experiments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0332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35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03320"/>
            <a:ext cx="566928" cy="1325880"/>
          </a:xfrm>
          <a:prstGeom prst="rect">
            <a:avLst/>
          </a:prstGeom>
          <a:solidFill>
            <a:srgbClr val="23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114800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931920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A1628"/>
                </a:solidFill>
                <a:latin typeface="Aptos"/>
              </a:rPr>
              <a:t>Go-to-Market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36168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7489"/>
                </a:solidFill>
                <a:latin typeface="Aptos"/>
              </a:rPr>
              <a:t>Brand • website • CRM • content • acquisition systems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70332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35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60" y="3703320"/>
            <a:ext cx="566928" cy="1325880"/>
          </a:xfrm>
          <a:prstGeom prst="rect">
            <a:avLst/>
          </a:prstGeom>
          <a:solidFill>
            <a:srgbClr val="23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114800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3931920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A1628"/>
                </a:solidFill>
                <a:latin typeface="Aptos"/>
              </a:rPr>
              <a:t>Operations &amp; Scale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800" y="436168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7489"/>
                </a:solidFill>
                <a:latin typeface="Aptos"/>
              </a:rPr>
              <a:t>SOPs • automation • hiring • dashboards • delegation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370332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35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75320" y="3703320"/>
            <a:ext cx="566928" cy="1325880"/>
          </a:xfrm>
          <a:prstGeom prst="rect">
            <a:avLst/>
          </a:prstGeom>
          <a:solidFill>
            <a:srgbClr val="23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4114800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3931920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A1628"/>
                </a:solidFill>
                <a:latin typeface="Aptos"/>
              </a:rPr>
              <a:t>Showcase &amp; Next Stage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436168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7489"/>
                </a:solidFill>
                <a:latin typeface="Aptos"/>
              </a:rPr>
              <a:t>Business review • investor readiness • growth roadmap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8978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235CDC"/>
                </a:solidFill>
                <a:latin typeface="Aptos"/>
              </a:rPr>
              <a:t>Operating rhythm: weekly execution sessions • monthly business reviews • expert masterclasses • milestone tracking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67489"/>
                </a:solidFill>
                <a:latin typeface="Aptos"/>
              </a:rPr>
              <a:t>PITCHVILLA STARTUP SCHOOL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235CDC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35CDC"/>
                </a:solidFill>
                <a:latin typeface="Aptos"/>
              </a:rPr>
              <a:t>05 / THE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0A1628"/>
                </a:solidFill>
                <a:latin typeface="Aptos Display"/>
              </a:rPr>
              <a:t>High-touch support. Lean delivery.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2588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67489"/>
                </a:solidFill>
                <a:latin typeface="Aptos"/>
              </a:rPr>
              <a:t>A shared-services model keeps the program structured and scalable.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2743200" cy="3337560"/>
          </a:xfrm>
          <a:prstGeom prst="round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Aptos"/>
              </a:rPr>
              <a:t>FOUNDER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54680"/>
            <a:ext cx="2011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D2DCEB"/>
                </a:solidFill>
                <a:latin typeface="Aptos"/>
              </a:rPr>
              <a:t>Business goals
Business data
Execution commitment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7091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7BE37"/>
                </a:solidFill>
                <a:latin typeface="Aptos"/>
              </a:rPr>
              <a:t>30 founders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29000" y="3611880"/>
            <a:ext cx="731520" cy="0"/>
          </a:xfrm>
          <a:prstGeom prst="line">
            <a:avLst/>
          </a:prstGeom>
          <a:ln w="31750">
            <a:solidFill>
              <a:srgbClr val="235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60520" y="2331720"/>
            <a:ext cx="2743200" cy="2560320"/>
          </a:xfrm>
          <a:prstGeom prst="roundRect">
            <a:avLst/>
          </a:prstGeom>
          <a:solidFill>
            <a:srgbClr val="E2EBFF"/>
          </a:solidFill>
          <a:ln>
            <a:solidFill>
              <a:srgbClr val="235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65176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235CDC"/>
                </a:solidFill>
                <a:latin typeface="Aptos"/>
              </a:rPr>
              <a:t>PROJECT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246120"/>
            <a:ext cx="21945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162030"/>
                </a:solidFill>
                <a:latin typeface="Aptos"/>
              </a:rPr>
              <a:t>Milestones
Mentor matching
Progress tracking
Resource coordination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03720" y="3611880"/>
            <a:ext cx="731520" cy="0"/>
          </a:xfrm>
          <a:prstGeom prst="line">
            <a:avLst/>
          </a:prstGeom>
          <a:ln w="31750">
            <a:solidFill>
              <a:srgbClr val="235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635240" y="1965960"/>
            <a:ext cx="3840480" cy="3337560"/>
          </a:xfrm>
          <a:prstGeom prst="roundRect">
            <a:avLst/>
          </a:prstGeom>
          <a:solidFill>
            <a:srgbClr val="FFF6D7"/>
          </a:solidFill>
          <a:ln>
            <a:solidFill>
              <a:srgbClr val="F7B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233172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0A1628"/>
                </a:solidFill>
                <a:latin typeface="Aptos"/>
              </a:rPr>
              <a:t>SHARED EXPERT &amp; RESOURCE POOL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154680"/>
            <a:ext cx="32004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162030"/>
                </a:solidFill>
                <a:latin typeface="Aptos"/>
              </a:rPr>
              <a:t>Strategy &amp; finance
Technology &amp; automation
Website &amp; design
Marketing &amp; content
Operations &amp; hiring
CXOs &amp; domain experts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06440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235CDC"/>
                </a:solidFill>
                <a:latin typeface="Aptos"/>
              </a:rPr>
              <a:t>Standardized core program + defined execution scope + paid add-ons for additional 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67489"/>
                </a:solidFill>
                <a:latin typeface="Aptos"/>
              </a:rPr>
              <a:t>PITCHVILLA STARTUP SCHOOL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235CDC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35CDC"/>
                </a:solidFill>
                <a:latin typeface="Aptos"/>
              </a:rPr>
              <a:t>06 /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0A1628"/>
                </a:solidFill>
                <a:latin typeface="Aptos Display"/>
              </a:rPr>
              <a:t>A founder receives an operating system—not just access.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2588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67489"/>
                </a:solidFill>
                <a:latin typeface="Aptos"/>
              </a:rPr>
              <a:t>The base program is standardized for every founder.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51663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65960"/>
            <a:ext cx="91440" cy="658368"/>
          </a:xfrm>
          <a:prstGeom prst="rect">
            <a:avLst/>
          </a:prstGeom>
          <a:solidFill>
            <a:srgbClr val="23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084831"/>
            <a:ext cx="17373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  <a:latin typeface="Aptos"/>
              </a:rPr>
              <a:t>Business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084831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7489"/>
                </a:solidFill>
                <a:latin typeface="Aptos"/>
              </a:rPr>
              <a:t>Diagnosis, restructuring, business plan, financial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65960"/>
            <a:ext cx="51663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965960"/>
            <a:ext cx="91440" cy="658368"/>
          </a:xfrm>
          <a:prstGeom prst="rect">
            <a:avLst/>
          </a:prstGeom>
          <a:solidFill>
            <a:srgbClr val="F7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2084831"/>
            <a:ext cx="17373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  <a:latin typeface="Aptos"/>
              </a:rPr>
              <a:t>Mentorship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084831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7489"/>
                </a:solidFill>
                <a:latin typeface="Aptos"/>
              </a:rPr>
              <a:t>Relevant experts, CXOs, experienced founders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62072"/>
            <a:ext cx="51663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862072"/>
            <a:ext cx="91440" cy="658368"/>
          </a:xfrm>
          <a:prstGeom prst="rect">
            <a:avLst/>
          </a:prstGeom>
          <a:solidFill>
            <a:srgbClr val="23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980944"/>
            <a:ext cx="17373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  <a:latin typeface="Aptos"/>
              </a:rPr>
              <a:t>Project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980944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7489"/>
                </a:solidFill>
                <a:latin typeface="Aptos"/>
              </a:rPr>
              <a:t>Dedicated PM, milestone tracker, monthly reviews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62072"/>
            <a:ext cx="51663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862072"/>
            <a:ext cx="91440" cy="658368"/>
          </a:xfrm>
          <a:prstGeom prst="rect">
            <a:avLst/>
          </a:prstGeom>
          <a:solidFill>
            <a:srgbClr val="F7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2980944"/>
            <a:ext cx="17373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  <a:latin typeface="Aptos"/>
              </a:rPr>
              <a:t>Technology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980944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7489"/>
                </a:solidFill>
                <a:latin typeface="Aptos"/>
              </a:rPr>
              <a:t>Cloud CRM, website development, automation support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58183"/>
            <a:ext cx="51663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758183"/>
            <a:ext cx="91440" cy="658368"/>
          </a:xfrm>
          <a:prstGeom prst="rect">
            <a:avLst/>
          </a:prstGeom>
          <a:solidFill>
            <a:srgbClr val="23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3877055"/>
            <a:ext cx="17373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  <a:latin typeface="Aptos"/>
              </a:rPr>
              <a:t>Growth infrastructure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3877055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7489"/>
                </a:solidFill>
                <a:latin typeface="Aptos"/>
              </a:rPr>
              <a:t>5 reels/month, social media, Meta Ads execution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758183"/>
            <a:ext cx="51663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758183"/>
            <a:ext cx="91440" cy="658368"/>
          </a:xfrm>
          <a:prstGeom prst="rect">
            <a:avLst/>
          </a:prstGeom>
          <a:solidFill>
            <a:srgbClr val="F7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3877055"/>
            <a:ext cx="17373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  <a:latin typeface="Aptos"/>
              </a:rPr>
              <a:t>Operations &amp; talent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3877055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7489"/>
                </a:solidFill>
                <a:latin typeface="Aptos"/>
              </a:rPr>
              <a:t>SOPs, hiring assistance, accounting coordination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654296"/>
            <a:ext cx="51663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4654296"/>
            <a:ext cx="91440" cy="658368"/>
          </a:xfrm>
          <a:prstGeom prst="rect">
            <a:avLst/>
          </a:prstGeom>
          <a:solidFill>
            <a:srgbClr val="23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" y="4773168"/>
            <a:ext cx="17373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  <a:latin typeface="Aptos"/>
              </a:rPr>
              <a:t>Investor readiness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477316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7489"/>
                </a:solidFill>
                <a:latin typeface="Aptos"/>
              </a:rPr>
              <a:t>Pitch preparation, eligibility, network access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654296"/>
            <a:ext cx="51663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654296"/>
            <a:ext cx="91440" cy="658368"/>
          </a:xfrm>
          <a:prstGeom prst="rect">
            <a:avLst/>
          </a:prstGeom>
          <a:solidFill>
            <a:srgbClr val="F7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3952" y="4773168"/>
            <a:ext cx="17373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  <a:latin typeface="Aptos"/>
              </a:rPr>
              <a:t>Founder HQ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477316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7489"/>
                </a:solidFill>
                <a:latin typeface="Aptos"/>
              </a:rPr>
              <a:t>Shared workspace and founder community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5715000"/>
            <a:ext cx="10927080" cy="457200"/>
          </a:xfrm>
          <a:prstGeom prst="round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5833872"/>
            <a:ext cx="10561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Additional execution beyond the defined scope is quoted and charged separately.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67489"/>
                </a:solidFill>
                <a:latin typeface="Aptos"/>
              </a:rPr>
              <a:t>PITCHVILLA STARTUP SCHOOL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235CDC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35CDC"/>
                </a:solidFill>
                <a:latin typeface="Aptos"/>
              </a:rPr>
              <a:t>07 /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0A1628"/>
                </a:solidFill>
                <a:latin typeface="Aptos Display"/>
              </a:rPr>
              <a:t>Simple pricing. Predictable revenue. Clear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2588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67489"/>
                </a:solidFill>
                <a:latin typeface="Aptos"/>
              </a:rPr>
              <a:t>One standard fee structure for a structured founder experience.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35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73152" cy="1417320"/>
          </a:xfrm>
          <a:prstGeom prst="rect">
            <a:avLst/>
          </a:prstGeom>
          <a:solidFill>
            <a:srgbClr val="23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2834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A1628"/>
                </a:solidFill>
                <a:latin typeface="Aptos"/>
              </a:rPr>
              <a:t>₹1.50L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70048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7489"/>
                </a:solidFill>
                <a:latin typeface="Aptos"/>
              </a:rPr>
              <a:t>One-time admission fee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01168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7B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2011680"/>
            <a:ext cx="73152" cy="1417320"/>
          </a:xfrm>
          <a:prstGeom prst="rect">
            <a:avLst/>
          </a:prstGeom>
          <a:solidFill>
            <a:srgbClr val="F7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194560"/>
            <a:ext cx="2834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A1628"/>
                </a:solidFill>
                <a:latin typeface="Aptos"/>
              </a:rPr>
              <a:t>₹20K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670048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7489"/>
                </a:solidFill>
                <a:latin typeface="Aptos"/>
              </a:rPr>
              <a:t>Monthly Growth Infrastructure fee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01168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C9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2011680"/>
            <a:ext cx="73152" cy="1417320"/>
          </a:xfrm>
          <a:prstGeom prst="rect">
            <a:avLst/>
          </a:prstGeom>
          <a:solidFill>
            <a:srgbClr val="1C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2194560"/>
            <a:ext cx="2834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A1628"/>
                </a:solidFill>
                <a:latin typeface="Aptos"/>
              </a:rPr>
              <a:t>6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670048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7489"/>
                </a:solidFill>
                <a:latin typeface="Aptos"/>
              </a:rPr>
              <a:t>Program duration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86200"/>
            <a:ext cx="10698480" cy="1234440"/>
          </a:xfrm>
          <a:prstGeom prst="round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1605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ptos"/>
              </a:rPr>
              <a:t>₹2,70,000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422452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D2DCEB"/>
                </a:solidFill>
                <a:latin typeface="Aptos"/>
              </a:rPr>
              <a:t>Total six-month commitment per founder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114800"/>
            <a:ext cx="2651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F7BE37"/>
                </a:solidFill>
                <a:latin typeface="Aptos"/>
              </a:rPr>
              <a:t>Excludes GST, Goa immersion, and additional execution services.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23560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67489"/>
                </a:solidFill>
                <a:latin typeface="Aptos"/>
              </a:rPr>
              <a:t>Potential financing may be explored through eligible banking or financial partners, subject to approval and applicable terms.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67489"/>
                </a:solidFill>
                <a:latin typeface="Aptos"/>
              </a:rPr>
              <a:t>PITCHVILLA STARTUP SCHOOL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235CDC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35CDC"/>
                </a:solidFill>
                <a:latin typeface="Aptos"/>
              </a:rPr>
              <a:t>08 / COHORT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0A1628"/>
                </a:solidFill>
                <a:latin typeface="Aptos Display"/>
              </a:rPr>
              <a:t>30 founders create an ₹81 lakh cohort opportunity.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2588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67489"/>
                </a:solidFill>
                <a:latin typeface="Aptos"/>
              </a:rPr>
              <a:t>Admission fees fund the program. Monthly fees fund recurring infrastructure.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32461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235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73152" cy="1371600"/>
          </a:xfrm>
          <a:prstGeom prst="rect">
            <a:avLst/>
          </a:prstGeom>
          <a:solidFill>
            <a:srgbClr val="23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A1628"/>
                </a:solidFill>
                <a:latin typeface="Aptos"/>
              </a:rPr>
              <a:t>₹45L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24328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7489"/>
                </a:solidFill>
                <a:latin typeface="Aptos"/>
              </a:rPr>
              <a:t>Admission revenue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965960"/>
            <a:ext cx="32461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F7B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965960"/>
            <a:ext cx="73152" cy="1371600"/>
          </a:xfrm>
          <a:prstGeom prst="rect">
            <a:avLst/>
          </a:prstGeom>
          <a:solidFill>
            <a:srgbClr val="F7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148840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A1628"/>
                </a:solidFill>
                <a:latin typeface="Aptos"/>
              </a:rPr>
              <a:t>₹36L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624328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7489"/>
                </a:solidFill>
                <a:latin typeface="Aptos"/>
              </a:rPr>
              <a:t>Recurring infrastructure revenue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965960"/>
            <a:ext cx="32461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1C9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965960"/>
            <a:ext cx="73152" cy="1371600"/>
          </a:xfrm>
          <a:prstGeom prst="rect">
            <a:avLst/>
          </a:prstGeom>
          <a:solidFill>
            <a:srgbClr val="1C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2148840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A1628"/>
                </a:solidFill>
                <a:latin typeface="Aptos"/>
              </a:rPr>
              <a:t>₹81L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624328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7489"/>
                </a:solidFill>
                <a:latin typeface="Aptos"/>
              </a:rPr>
              <a:t>Total cohort 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  <a:latin typeface="Aptos"/>
              </a:rPr>
              <a:t>Revenue composition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343400"/>
            <a:ext cx="6400800" cy="438912"/>
          </a:xfrm>
          <a:prstGeom prst="rect">
            <a:avLst/>
          </a:prstGeom>
          <a:solidFill>
            <a:srgbClr val="23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23760" y="4343400"/>
            <a:ext cx="4572000" cy="438912"/>
          </a:xfrm>
          <a:prstGeom prst="rect">
            <a:avLst/>
          </a:prstGeom>
          <a:solidFill>
            <a:srgbClr val="F7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462272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55.6%  Admission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462272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  <a:latin typeface="Aptos"/>
              </a:rPr>
              <a:t>44.4%  Recurring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166360"/>
            <a:ext cx="10881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35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367528"/>
            <a:ext cx="10332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62030"/>
                </a:solidFill>
                <a:latin typeface="Aptos"/>
              </a:rPr>
              <a:t>Commercial advantage: ₹45 lakh is collected upfront before the six-month delivery cycle begins, assuming all seats are paid and contracted.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67489"/>
                </a:solidFill>
                <a:latin typeface="Aptos"/>
              </a:rPr>
              <a:t>PITCHVILLA STARTUP SCHOOL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235CDC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7BE37"/>
                </a:solidFill>
                <a:latin typeface="Aptos"/>
              </a:rPr>
              <a:t>09 / DELIVERY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Aptos Display"/>
              </a:rPr>
              <a:t>Protect margins through shared infrastructure.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2588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2DCEB"/>
                </a:solidFill>
                <a:latin typeface="Aptos"/>
              </a:rPr>
              <a:t>The 60% target is a contribution-margin ambition—not a claim of guaranteed net profit.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Illustrative cohort revenue allocation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14600"/>
            <a:ext cx="106984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514600"/>
            <a:ext cx="6419088" cy="640080"/>
          </a:xfrm>
          <a:prstGeom prst="rect">
            <a:avLst/>
          </a:prstGeom>
          <a:solidFill>
            <a:srgbClr val="1C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96328" y="2514600"/>
            <a:ext cx="4279392" cy="640080"/>
          </a:xfrm>
          <a:prstGeom prst="rect">
            <a:avLst/>
          </a:prstGeom>
          <a:solidFill>
            <a:srgbClr val="F7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715768"/>
            <a:ext cx="4754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60% target contribution / surplus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71576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ptos"/>
              </a:rPr>
              <a:t>40% planned operating allocation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03320"/>
            <a:ext cx="5029200" cy="384048"/>
          </a:xfrm>
          <a:prstGeom prst="roundRect">
            <a:avLst/>
          </a:prstGeom>
          <a:solidFill>
            <a:srgbClr val="18283F"/>
          </a:solidFill>
          <a:ln>
            <a:solidFill>
              <a:srgbClr val="41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03904"/>
            <a:ext cx="4663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DCE6F0"/>
                </a:solidFill>
                <a:latin typeface="Aptos"/>
              </a:rPr>
              <a:t>Project managers &amp; program delivery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703320"/>
            <a:ext cx="5029200" cy="384048"/>
          </a:xfrm>
          <a:prstGeom prst="roundRect">
            <a:avLst/>
          </a:prstGeom>
          <a:solidFill>
            <a:srgbClr val="18283F"/>
          </a:solidFill>
          <a:ln>
            <a:solidFill>
              <a:srgbClr val="41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03904"/>
            <a:ext cx="4663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DCE6F0"/>
                </a:solidFill>
                <a:latin typeface="Aptos"/>
              </a:rPr>
              <a:t>Expert faculty &amp; mentor honorariums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70248"/>
            <a:ext cx="5029200" cy="384048"/>
          </a:xfrm>
          <a:prstGeom prst="roundRect">
            <a:avLst/>
          </a:prstGeom>
          <a:solidFill>
            <a:srgbClr val="18283F"/>
          </a:solidFill>
          <a:ln>
            <a:solidFill>
              <a:srgbClr val="41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370832"/>
            <a:ext cx="4663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DCE6F0"/>
                </a:solidFill>
                <a:latin typeface="Aptos"/>
              </a:rPr>
              <a:t>Shared marketing &amp; content resources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270248"/>
            <a:ext cx="5029200" cy="384048"/>
          </a:xfrm>
          <a:prstGeom prst="roundRect">
            <a:avLst/>
          </a:prstGeom>
          <a:solidFill>
            <a:srgbClr val="18283F"/>
          </a:solidFill>
          <a:ln>
            <a:solidFill>
              <a:srgbClr val="41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370832"/>
            <a:ext cx="4663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DCE6F0"/>
                </a:solidFill>
                <a:latin typeface="Aptos"/>
              </a:rPr>
              <a:t>Technology, CRM &amp; support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837176"/>
            <a:ext cx="5029200" cy="384048"/>
          </a:xfrm>
          <a:prstGeom prst="roundRect">
            <a:avLst/>
          </a:prstGeom>
          <a:solidFill>
            <a:srgbClr val="18283F"/>
          </a:solidFill>
          <a:ln>
            <a:solidFill>
              <a:srgbClr val="41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937760"/>
            <a:ext cx="4663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DCE6F0"/>
                </a:solidFill>
                <a:latin typeface="Aptos"/>
              </a:rPr>
              <a:t>Workspace allocation &amp; utilities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837176"/>
            <a:ext cx="5029200" cy="384048"/>
          </a:xfrm>
          <a:prstGeom prst="roundRect">
            <a:avLst/>
          </a:prstGeom>
          <a:solidFill>
            <a:srgbClr val="18283F"/>
          </a:solidFill>
          <a:ln>
            <a:solidFill>
              <a:srgbClr val="41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937760"/>
            <a:ext cx="4663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DCE6F0"/>
                </a:solidFill>
                <a:latin typeface="Aptos"/>
              </a:rPr>
              <a:t>Contingency and administration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9788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7BE37"/>
                </a:solidFill>
                <a:latin typeface="Aptos"/>
              </a:rPr>
              <a:t>Margin discipline depends on standardized deliverables, shared teams, and separately priced custom execution.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AAB4C3"/>
                </a:solidFill>
                <a:latin typeface="Aptos"/>
              </a:rPr>
              <a:t>PITCHVILLA STARTUP SCHOOL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F7BE37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35CDC"/>
                </a:solidFill>
                <a:latin typeface="Aptos"/>
              </a:rPr>
              <a:t>10 / 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0A1628"/>
                </a:solidFill>
                <a:latin typeface="Aptos Display"/>
              </a:rPr>
              <a:t>Sell the seats first. Build the infrastructure second.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2588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67489"/>
                </a:solidFill>
                <a:latin typeface="Aptos"/>
              </a:rPr>
              <a:t>An asset-light launch reduces risk and validates demand before major investment.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594360" cy="502920"/>
          </a:xfrm>
          <a:prstGeom prst="roundRect">
            <a:avLst/>
          </a:prstGeom>
          <a:solidFill>
            <a:srgbClr val="23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039112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A1628"/>
                </a:solidFill>
                <a:latin typeface="Aptos"/>
              </a:rPr>
              <a:t>Founder outreach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2039112"/>
            <a:ext cx="7040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67489"/>
                </a:solidFill>
                <a:latin typeface="Aptos"/>
              </a:rPr>
              <a:t>Personal network, LinkedIn, ecosystem partners, founder communities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69848" y="2468880"/>
            <a:ext cx="0" cy="256032"/>
          </a:xfrm>
          <a:prstGeom prst="line">
            <a:avLst/>
          </a:prstGeom>
          <a:ln w="19050">
            <a:solidFill>
              <a:srgbClr val="235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77240" y="2724912"/>
            <a:ext cx="594360" cy="502920"/>
          </a:xfrm>
          <a:prstGeom prst="roundRect">
            <a:avLst/>
          </a:prstGeom>
          <a:solidFill>
            <a:srgbClr val="23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62072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798064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A1628"/>
                </a:solidFill>
                <a:latin typeface="Aptos"/>
              </a:rPr>
              <a:t>Application &amp; diagnosis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798064"/>
            <a:ext cx="7040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67489"/>
                </a:solidFill>
                <a:latin typeface="Aptos"/>
              </a:rPr>
              <a:t>Select founders based on business stage, pain, commitment, and commercial opportunity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69848" y="3227832"/>
            <a:ext cx="0" cy="256032"/>
          </a:xfrm>
          <a:prstGeom prst="line">
            <a:avLst/>
          </a:prstGeom>
          <a:ln w="19050">
            <a:solidFill>
              <a:srgbClr val="235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" y="3483863"/>
            <a:ext cx="594360" cy="502920"/>
          </a:xfrm>
          <a:prstGeom prst="roundRect">
            <a:avLst/>
          </a:prstGeom>
          <a:solidFill>
            <a:srgbClr val="23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21023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557015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A1628"/>
                </a:solidFill>
                <a:latin typeface="Aptos"/>
              </a:rPr>
              <a:t>Collect admission fees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557015"/>
            <a:ext cx="7040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67489"/>
                </a:solidFill>
                <a:latin typeface="Aptos"/>
              </a:rPr>
              <a:t>Confirm 30 paid seats before committing to full infrastructure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69848" y="3986783"/>
            <a:ext cx="0" cy="256033"/>
          </a:xfrm>
          <a:prstGeom prst="line">
            <a:avLst/>
          </a:prstGeom>
          <a:ln w="19050">
            <a:solidFill>
              <a:srgbClr val="235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77240" y="4242816"/>
            <a:ext cx="594360" cy="502920"/>
          </a:xfrm>
          <a:prstGeom prst="roundRect">
            <a:avLst/>
          </a:prstGeom>
          <a:solidFill>
            <a:srgbClr val="23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379976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315968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A1628"/>
                </a:solidFill>
                <a:latin typeface="Aptos"/>
              </a:rPr>
              <a:t>Operate lean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4315968"/>
            <a:ext cx="7040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67489"/>
                </a:solidFill>
                <a:latin typeface="Aptos"/>
              </a:rPr>
              <a:t>Temporary workspace, freelancers, agencies, shared Pitchvilla resources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69848" y="4745736"/>
            <a:ext cx="0" cy="256032"/>
          </a:xfrm>
          <a:prstGeom prst="line">
            <a:avLst/>
          </a:prstGeom>
          <a:ln w="19050">
            <a:solidFill>
              <a:srgbClr val="235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77240" y="5001768"/>
            <a:ext cx="594360" cy="502920"/>
          </a:xfrm>
          <a:prstGeom prst="roundRect">
            <a:avLst/>
          </a:prstGeom>
          <a:solidFill>
            <a:srgbClr val="23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13892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074920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A1628"/>
                </a:solidFill>
                <a:latin typeface="Aptos"/>
              </a:rPr>
              <a:t>Build after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5074920"/>
            <a:ext cx="7040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67489"/>
                </a:solidFill>
                <a:latin typeface="Aptos"/>
              </a:rPr>
              <a:t>Invest in dedicated 4,000 sq. ft. HQ and internal capacity after cohort validation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897880"/>
            <a:ext cx="10698480" cy="411480"/>
          </a:xfrm>
          <a:prstGeom prst="roundRect">
            <a:avLst/>
          </a:prstGeom>
          <a:solidFill>
            <a:srgbClr val="E2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6007608"/>
            <a:ext cx="10424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1C9D69"/>
                </a:solidFill>
                <a:latin typeface="Aptos"/>
              </a:rPr>
              <a:t>Launch principle: validate demand → collect cash → deliver lean → invest with evidence.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67489"/>
                </a:solidFill>
                <a:latin typeface="Aptos"/>
              </a:rPr>
              <a:t>PITCHVILLA STARTUP SCHOOL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235CDC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35CDC"/>
                </a:solidFill>
                <a:latin typeface="Aptos"/>
              </a:rPr>
              <a:t>11 / COMPETITIVE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0A1628"/>
                </a:solidFill>
                <a:latin typeface="Aptos Display"/>
              </a:rPr>
              <a:t>Not an incubator. Not an agency. Not a course.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2588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67489"/>
                </a:solidFill>
                <a:latin typeface="Aptos"/>
              </a:rPr>
              <a:t>Pitchvilla sits between strategic advisory and hands-on founder enablement.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98755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828800" y="4892040"/>
            <a:ext cx="8412480" cy="0"/>
          </a:xfrm>
          <a:prstGeom prst="line">
            <a:avLst/>
          </a:prstGeom>
          <a:ln w="19050">
            <a:solidFill>
              <a:srgbClr val="667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828800" y="2240280"/>
            <a:ext cx="0" cy="2651760"/>
          </a:xfrm>
          <a:prstGeom prst="line">
            <a:avLst/>
          </a:prstGeom>
          <a:ln w="19050">
            <a:solidFill>
              <a:srgbClr val="667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11680" y="507492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667489"/>
                </a:solidFill>
                <a:latin typeface="Aptos"/>
              </a:rPr>
              <a:t>LOW EXECUTION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507492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667489"/>
                </a:solidFill>
                <a:latin typeface="Aptos"/>
              </a:rPr>
              <a:t>HIGH EXECUTION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274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667489"/>
                </a:solidFill>
                <a:latin typeface="Aptos"/>
              </a:rPr>
              <a:t>LOW STRATEGIC DEPTH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40280"/>
            <a:ext cx="274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667489"/>
                </a:solidFill>
                <a:latin typeface="Aptos"/>
              </a:rPr>
              <a:t>HIGH STRATEGIC DEPTH</a:t>
            </a:r>
          </a:p>
        </p:txBody>
      </p:sp>
      <p:sp>
        <p:nvSpPr>
          <p:cNvPr id="13" name="Oval 12"/>
          <p:cNvSpPr/>
          <p:nvPr/>
        </p:nvSpPr>
        <p:spPr>
          <a:xfrm>
            <a:off x="2926080" y="4251960"/>
            <a:ext cx="201168" cy="201168"/>
          </a:xfrm>
          <a:prstGeom prst="ellipse">
            <a:avLst/>
          </a:prstGeom>
          <a:solidFill>
            <a:srgbClr val="667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4233672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62030"/>
                </a:solidFill>
                <a:latin typeface="Aptos"/>
              </a:rPr>
              <a:t>Online courses</a:t>
            </a:r>
          </a:p>
        </p:txBody>
      </p:sp>
      <p:sp>
        <p:nvSpPr>
          <p:cNvPr id="15" name="Oval 14"/>
          <p:cNvSpPr/>
          <p:nvPr/>
        </p:nvSpPr>
        <p:spPr>
          <a:xfrm>
            <a:off x="3931920" y="2926080"/>
            <a:ext cx="201168" cy="201168"/>
          </a:xfrm>
          <a:prstGeom prst="ellipse">
            <a:avLst/>
          </a:prstGeom>
          <a:solidFill>
            <a:srgbClr val="667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2907792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62030"/>
                </a:solidFill>
                <a:latin typeface="Aptos"/>
              </a:rPr>
              <a:t>Coworking spaces</a:t>
            </a:r>
          </a:p>
        </p:txBody>
      </p:sp>
      <p:sp>
        <p:nvSpPr>
          <p:cNvPr id="17" name="Oval 16"/>
          <p:cNvSpPr/>
          <p:nvPr/>
        </p:nvSpPr>
        <p:spPr>
          <a:xfrm>
            <a:off x="7680960" y="4114800"/>
            <a:ext cx="201168" cy="201168"/>
          </a:xfrm>
          <a:prstGeom prst="ellipse">
            <a:avLst/>
          </a:prstGeom>
          <a:solidFill>
            <a:srgbClr val="667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4096512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62030"/>
                </a:solidFill>
                <a:latin typeface="Aptos"/>
              </a:rPr>
              <a:t>Marketing agencies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0" y="2788920"/>
            <a:ext cx="201168" cy="201168"/>
          </a:xfrm>
          <a:prstGeom prst="ellipse">
            <a:avLst/>
          </a:prstGeom>
          <a:solidFill>
            <a:srgbClr val="667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2770632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62030"/>
                </a:solidFill>
                <a:latin typeface="Aptos"/>
              </a:rPr>
              <a:t>Traditional consulting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0" y="2377440"/>
            <a:ext cx="201168" cy="201168"/>
          </a:xfrm>
          <a:prstGeom prst="ellipse">
            <a:avLst/>
          </a:prstGeom>
          <a:solidFill>
            <a:srgbClr val="23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2359152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35CDC"/>
                </a:solidFill>
                <a:latin typeface="Aptos"/>
              </a:rPr>
              <a:t>PITCHVILLA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806440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0A1628"/>
                </a:solidFill>
                <a:latin typeface="Aptos"/>
              </a:rPr>
              <a:t>Pitchvilla combines strategic direction, shared operating resources, and execution accountability in one founder-focused platform.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67489"/>
                </a:solidFill>
                <a:latin typeface="Aptos"/>
              </a:rPr>
              <a:t>PITCHVILLA STARTUP SCHOOL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235CDC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35CDC"/>
                </a:solidFill>
                <a:latin typeface="Aptos"/>
              </a:rPr>
              <a:t>12 / GROWTH FLYWHEEL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0A1628"/>
                </a:solidFill>
                <a:latin typeface="Aptos Display"/>
              </a:rPr>
              <a:t>The cohort is the entry point—not the ceiling.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2588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67489"/>
                </a:solidFill>
                <a:latin typeface="Aptos"/>
              </a:rPr>
              <a:t>Every founder can become a long-term Pitchvilla ecosystem customer.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828800"/>
            <a:ext cx="2468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35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92040" y="201168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0A1628"/>
                </a:solidFill>
                <a:latin typeface="Aptos"/>
              </a:rPr>
              <a:t>30 founders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2359152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667489"/>
                </a:solidFill>
                <a:latin typeface="Aptos"/>
              </a:rPr>
              <a:t>Cohort revenue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880360"/>
            <a:ext cx="2468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7B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306324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0A1628"/>
                </a:solidFill>
                <a:latin typeface="Aptos"/>
              </a:rPr>
              <a:t>Shared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3410712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667489"/>
                </a:solidFill>
                <a:latin typeface="Aptos"/>
              </a:rPr>
              <a:t>Marketing + technology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572000"/>
            <a:ext cx="2468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C9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475488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0A1628"/>
                </a:solidFill>
                <a:latin typeface="Aptos"/>
              </a:rPr>
              <a:t>Business outcomes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5102352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667489"/>
                </a:solidFill>
                <a:latin typeface="Aptos"/>
              </a:rPr>
              <a:t>Trust + case studies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4572000"/>
            <a:ext cx="2468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0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475488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0A1628"/>
                </a:solidFill>
                <a:latin typeface="Aptos"/>
              </a:rPr>
              <a:t>Recurring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5102352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667489"/>
                </a:solidFill>
                <a:latin typeface="Aptos"/>
              </a:rPr>
              <a:t>CRM + consulting + execution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54480" y="2880360"/>
            <a:ext cx="2468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35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39" y="306324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0A1628"/>
                </a:solidFill>
                <a:latin typeface="Aptos"/>
              </a:rPr>
              <a:t>More founders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39" y="3410712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667489"/>
                </a:solidFill>
                <a:latin typeface="Aptos"/>
              </a:rPr>
              <a:t>Referrals + brand authority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23760" y="2514600"/>
            <a:ext cx="1005840" cy="457200"/>
          </a:xfrm>
          <a:prstGeom prst="line">
            <a:avLst/>
          </a:prstGeom>
          <a:ln w="25400">
            <a:solidFill>
              <a:srgbClr val="235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8046720" y="3840480"/>
            <a:ext cx="1188720" cy="731520"/>
          </a:xfrm>
          <a:prstGeom prst="line">
            <a:avLst/>
          </a:prstGeom>
          <a:ln w="25400">
            <a:solidFill>
              <a:srgbClr val="235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5212080" y="5029200"/>
            <a:ext cx="1645920" cy="0"/>
          </a:xfrm>
          <a:prstGeom prst="line">
            <a:avLst/>
          </a:prstGeom>
          <a:ln w="25400">
            <a:solidFill>
              <a:srgbClr val="235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2468880" y="3840480"/>
            <a:ext cx="274320" cy="731520"/>
          </a:xfrm>
          <a:prstGeom prst="line">
            <a:avLst/>
          </a:prstGeom>
          <a:ln w="25400">
            <a:solidFill>
              <a:srgbClr val="235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651760" y="2423160"/>
            <a:ext cx="2103120" cy="457200"/>
          </a:xfrm>
          <a:prstGeom prst="line">
            <a:avLst/>
          </a:prstGeom>
          <a:ln w="25400">
            <a:solidFill>
              <a:srgbClr val="235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5897880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235CDC"/>
                </a:solidFill>
                <a:latin typeface="Aptos"/>
              </a:rPr>
              <a:t>Program fees → shared infrastructure → founder outcomes → recurring services → referrals → next cohort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67489"/>
                </a:solidFill>
                <a:latin typeface="Aptos"/>
              </a:rPr>
              <a:t>PITCHVILLA STARTUP SCHOOL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235CDC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7BE37"/>
                </a:solidFill>
                <a:latin typeface="Aptos"/>
              </a:rPr>
              <a:t>13 / 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Aptos Display"/>
              </a:rPr>
              <a:t>Build the place where founders stop building alone.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2588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2DCEB"/>
                </a:solidFill>
                <a:latin typeface="Aptos"/>
              </a:rPr>
              <a:t>From a six-month cohort to India's most practical founder enablement ecosystem.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7BE37"/>
                </a:solidFill>
                <a:latin typeface="Aptos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Aptos"/>
              </a:rPr>
              <a:t>Launch Aarambh Cohort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D2DCEB"/>
                </a:solidFill>
                <a:latin typeface="Aptos"/>
              </a:rPr>
              <a:t>30 selected founders • Ahmedabad • validate delivery and 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1168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7BE37"/>
                </a:solidFill>
                <a:latin typeface="Aptos"/>
              </a:rPr>
              <a:t>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3317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Aptos"/>
              </a:rPr>
              <a:t>Build Founder HQ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78892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D2DCEB"/>
                </a:solidFill>
                <a:latin typeface="Aptos"/>
              </a:rPr>
              <a:t>4,000 sq. ft. shared infrastructure • internal delivery team • stronger ecosystem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6908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7BE37"/>
                </a:solidFill>
                <a:latin typeface="Aptos"/>
              </a:rP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891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Aptos"/>
              </a:rPr>
              <a:t>Scale the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4632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D2DCEB"/>
                </a:solidFill>
                <a:latin typeface="Aptos"/>
              </a:rPr>
              <a:t>Multiple cohorts • recurring technology revenue • consulting and talent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06908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7BE37"/>
                </a:solidFill>
                <a:latin typeface="Aptos"/>
              </a:rPr>
              <a:t>PHASE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3891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Aptos"/>
              </a:rPr>
              <a:t>Enable the Ecosystem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84632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D2DCEB"/>
                </a:solidFill>
                <a:latin typeface="Aptos"/>
              </a:rPr>
              <a:t>Founder network • corporate programs • selective venture-building opportunities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897880"/>
            <a:ext cx="10652760" cy="411480"/>
          </a:xfrm>
          <a:prstGeom prst="roundRect">
            <a:avLst/>
          </a:prstGeom>
          <a:solidFill>
            <a:srgbClr val="F7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6007608"/>
            <a:ext cx="10332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0A1628"/>
                </a:solidFill>
                <a:latin typeface="Aptos"/>
              </a:rPr>
              <a:t>PITCHVILLA STARTUP SCHOOL  |  Ideas Don't Scale. Founders 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AAB4C3"/>
                </a:solidFill>
                <a:latin typeface="Aptos"/>
              </a:rPr>
              <a:t>PITCHVILLA STARTUP SCHOOL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F7BE37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35CDC"/>
                </a:solidFill>
                <a:latin typeface="Aptos"/>
              </a:rPr>
              <a:t>PITCHVILLA STARTUP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7955279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0A1628"/>
                </a:solidFill>
                <a:latin typeface="Aptos Display"/>
              </a:rPr>
              <a:t>The next generation of founders
needs more than inspiration.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68580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62030"/>
                </a:solidFill>
                <a:latin typeface="Aptos"/>
              </a:rPr>
              <a:t>They need direction.
They need resources.
They need an environment built for execution.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983480"/>
            <a:ext cx="3840480" cy="502920"/>
          </a:xfrm>
          <a:prstGeom prst="round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129784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Ideas Don't Scale. Founders 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4023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35CDC"/>
                </a:solidFill>
                <a:latin typeface="Aptos"/>
              </a:rPr>
              <a:t>AARAMBH COHORT 01  •  NOVEMBER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234440"/>
            <a:ext cx="2560320" cy="4389120"/>
          </a:xfrm>
          <a:prstGeom prst="roundRect">
            <a:avLst/>
          </a:prstGeom>
          <a:solidFill>
            <a:srgbClr val="E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32520" y="1783080"/>
            <a:ext cx="1554480" cy="1554480"/>
          </a:xfrm>
          <a:prstGeom prst="roundRect">
            <a:avLst/>
          </a:prstGeom>
          <a:solidFill>
            <a:srgbClr val="23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20" y="2148840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ptos Display"/>
              </a:rPr>
              <a:t>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15400" y="3840480"/>
            <a:ext cx="1188720" cy="137160"/>
          </a:xfrm>
          <a:prstGeom prst="rect">
            <a:avLst/>
          </a:prstGeom>
          <a:solidFill>
            <a:srgbClr val="F7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41080" y="4251960"/>
            <a:ext cx="1737360" cy="137160"/>
          </a:xfrm>
          <a:prstGeom prst="rect">
            <a:avLst/>
          </a:prstGeom>
          <a:solidFill>
            <a:srgbClr val="F7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66760" y="4663440"/>
            <a:ext cx="2286000" cy="137160"/>
          </a:xfrm>
          <a:prstGeom prst="rect">
            <a:avLst/>
          </a:prstGeom>
          <a:solidFill>
            <a:srgbClr val="F7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507492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0A1628"/>
                </a:solidFill>
                <a:latin typeface="Aptos"/>
              </a:rPr>
              <a:t>FOUNDER
ENABLEMENT
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67489"/>
                </a:solidFill>
                <a:latin typeface="Aptos"/>
              </a:rPr>
              <a:t>PITCHVILLA STARTUP SCHOOL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235CDC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